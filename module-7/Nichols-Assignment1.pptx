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88" r:id="rId7"/>
    <p:sldId id="290" r:id="rId8"/>
    <p:sldId id="294" r:id="rId9"/>
    <p:sldId id="297" r:id="rId10"/>
    <p:sldId id="302" r:id="rId11"/>
    <p:sldId id="303" r:id="rId12"/>
    <p:sldId id="305" r:id="rId13"/>
    <p:sldId id="30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CD43EA-3918-B4B3-6363-848BBBEC604A}" v="283" dt="2025-02-15T03:28:08.743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5646" autoAdjust="0"/>
  </p:normalViewPr>
  <p:slideViewPr>
    <p:cSldViewPr snapToGrid="0">
      <p:cViewPr>
        <p:scale>
          <a:sx n="100" d="100"/>
          <a:sy n="100" d="100"/>
        </p:scale>
        <p:origin x="-1238" y="-115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2/14/2025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2/14/2025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43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5" r:id="rId9"/>
    <p:sldLayoutId id="2147483677" r:id="rId10"/>
    <p:sldLayoutId id="2147483676" r:id="rId11"/>
    <p:sldLayoutId id="2147483661" r:id="rId12"/>
    <p:sldLayoutId id="2147483666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re.google/" TargetMode="External"/><Relationship Id="rId2" Type="http://schemas.openxmlformats.org/officeDocument/2006/relationships/hyperlink" Target="https://www.pagerduty.com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sz="4000" b="0" dirty="0">
                <a:latin typeface="Tenorite"/>
                <a:cs typeface="Arial"/>
              </a:rPr>
              <a:t>Caitlan Nichols</a:t>
            </a:r>
            <a:endParaRPr lang="en-US" sz="4000" dirty="0">
              <a:latin typeface="Tenorite"/>
            </a:endParaRPr>
          </a:p>
          <a:p>
            <a:r>
              <a:rPr lang="en-US" sz="4000" b="0" dirty="0">
                <a:latin typeface="Tenorite"/>
                <a:cs typeface="Arial"/>
              </a:rPr>
              <a:t>February 14 2025</a:t>
            </a:r>
            <a:endParaRPr lang="en-US" sz="4000">
              <a:latin typeface="Tenorite"/>
            </a:endParaRPr>
          </a:p>
          <a:p>
            <a:r>
              <a:rPr lang="en-US" sz="4000" b="0" dirty="0">
                <a:latin typeface="Tenorite"/>
                <a:cs typeface="Arial"/>
              </a:rPr>
              <a:t>Module 7.2 - Assignment: </a:t>
            </a:r>
            <a:r>
              <a:rPr lang="en-US" sz="4000" b="0" dirty="0">
                <a:ea typeface="Open Sans"/>
                <a:cs typeface="Open Sans"/>
              </a:rPr>
              <a:t>Pager Rotation Duties</a:t>
            </a:r>
            <a:endParaRPr lang="en-US" sz="1100" dirty="0">
              <a:latin typeface="Tenorite"/>
              <a:ea typeface="Open Sans"/>
              <a:cs typeface="Open Sans"/>
            </a:endParaRPr>
          </a:p>
          <a:p>
            <a:br>
              <a:rPr lang="en-US" dirty="0"/>
            </a:b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What is Pager Rotation?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In DevOps, </a:t>
            </a:r>
            <a:r>
              <a:rPr lang="en-US" b="1">
                <a:ea typeface="+mn-lt"/>
                <a:cs typeface="+mn-lt"/>
              </a:rPr>
              <a:t>pager rotation</a:t>
            </a:r>
            <a:r>
              <a:rPr lang="en-US">
                <a:ea typeface="+mn-lt"/>
                <a:cs typeface="+mn-lt"/>
              </a:rPr>
              <a:t> refers to an on-call system where team members take turns being responsible for handling urgent production 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Ensures </a:t>
            </a:r>
            <a:r>
              <a:rPr lang="en-US" b="1">
                <a:ea typeface="+mn-lt"/>
                <a:cs typeface="+mn-lt"/>
              </a:rPr>
              <a:t>continuous system reliability</a:t>
            </a:r>
            <a:r>
              <a:rPr lang="en-US">
                <a:ea typeface="+mn-lt"/>
                <a:cs typeface="+mn-lt"/>
              </a:rPr>
              <a:t> and minimizes downtime.</a:t>
            </a:r>
          </a:p>
          <a:p>
            <a:pPr marL="457200" indent="-457200">
              <a:buFont typeface="Calibri" panose="020B0604020202020204" pitchFamily="34" charset="0"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EE190-899A-46D2-989D-C4BC6A46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-1818216"/>
            <a:ext cx="8739623" cy="3200400"/>
          </a:xfrm>
        </p:spPr>
        <p:txBody>
          <a:bodyPr/>
          <a:lstStyle/>
          <a:p>
            <a:r>
              <a:rPr lang="en-US" sz="4000" dirty="0">
                <a:ea typeface="+mj-lt"/>
                <a:cs typeface="+mj-lt"/>
              </a:rPr>
              <a:t>Why is Pager Rotation important?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BC9DE8-A5CC-4BE1-0DE5-CB15D01A7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431" y="1604433"/>
            <a:ext cx="10147723" cy="4210050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Supports </a:t>
            </a:r>
            <a:r>
              <a:rPr lang="en-US" b="1" dirty="0">
                <a:ea typeface="+mn-lt"/>
                <a:cs typeface="+mn-lt"/>
              </a:rPr>
              <a:t>incident management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Ensures </a:t>
            </a:r>
            <a:r>
              <a:rPr lang="en-US" b="1" dirty="0">
                <a:ea typeface="+mn-lt"/>
                <a:cs typeface="+mn-lt"/>
              </a:rPr>
              <a:t>high availability</a:t>
            </a:r>
            <a:r>
              <a:rPr lang="en-US" dirty="0">
                <a:ea typeface="+mn-lt"/>
                <a:cs typeface="+mn-lt"/>
              </a:rPr>
              <a:t> of services.</a:t>
            </a: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Distributes workload fairly among team members.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75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sz="4000" b="0" dirty="0">
                <a:ea typeface="+mj-lt"/>
                <a:cs typeface="+mj-lt"/>
              </a:rPr>
              <a:t>Industry Best Practices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8917940" cy="50473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Define Clear On-Call Schedules</a:t>
            </a:r>
            <a:endParaRPr lang="en-US" dirty="0"/>
          </a:p>
          <a:p>
            <a:pPr marL="283210" lvl="1" indent="-28321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 tools like </a:t>
            </a:r>
            <a:r>
              <a:rPr lang="en-US" b="1" dirty="0">
                <a:ea typeface="+mn-lt"/>
                <a:cs typeface="+mn-lt"/>
              </a:rPr>
              <a:t>PagerDuty, </a:t>
            </a:r>
            <a:r>
              <a:rPr lang="en-US" b="1" dirty="0" err="1">
                <a:ea typeface="+mn-lt"/>
                <a:cs typeface="+mn-lt"/>
              </a:rPr>
              <a:t>OpsGenie</a:t>
            </a:r>
            <a:r>
              <a:rPr lang="en-US" b="1" dirty="0">
                <a:ea typeface="+mn-lt"/>
                <a:cs typeface="+mn-lt"/>
              </a:rPr>
              <a:t>, or </a:t>
            </a:r>
            <a:r>
              <a:rPr lang="en-US" b="1" dirty="0" err="1">
                <a:ea typeface="+mn-lt"/>
                <a:cs typeface="+mn-lt"/>
              </a:rPr>
              <a:t>VictorOps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283210" lvl="1" indent="-28321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Rotate shifts fairly to avoid burnout.</a:t>
            </a:r>
          </a:p>
          <a:p>
            <a:pPr marL="285750" indent="-285750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Set Reasonable Alert Thresholds</a:t>
            </a:r>
            <a:endParaRPr lang="en-US" dirty="0"/>
          </a:p>
          <a:p>
            <a:pPr marL="283210" lvl="1" indent="-28321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Avoid false positives (reduce alert fatigue).</a:t>
            </a:r>
          </a:p>
          <a:p>
            <a:pPr marL="283210" lvl="1" indent="-28321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 </a:t>
            </a:r>
            <a:r>
              <a:rPr lang="en-US" b="1" dirty="0">
                <a:ea typeface="+mn-lt"/>
                <a:cs typeface="+mn-lt"/>
              </a:rPr>
              <a:t>SLOs (Service Level Objectives)</a:t>
            </a:r>
            <a:r>
              <a:rPr lang="en-US" dirty="0">
                <a:ea typeface="+mn-lt"/>
                <a:cs typeface="+mn-lt"/>
              </a:rPr>
              <a:t> to define acceptable error budgets.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Ensure Proper Handoffs</a:t>
            </a:r>
            <a:endParaRPr lang="en-US" dirty="0"/>
          </a:p>
          <a:p>
            <a:pPr marL="283210" lvl="1" indent="-28321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Conduct </a:t>
            </a:r>
            <a:r>
              <a:rPr lang="en-US" b="1" dirty="0">
                <a:ea typeface="+mn-lt"/>
                <a:cs typeface="+mn-lt"/>
              </a:rPr>
              <a:t>shift handover meetings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3210" lvl="1" indent="-28321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 documentation (e.g., incident logs, playbooks).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00FF-6B42-7D84-7831-AACC4E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977" y="-474134"/>
            <a:ext cx="8511477" cy="1920240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Incident Response and Resolution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54568" y="1447272"/>
            <a:ext cx="10938932" cy="46423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Triage Process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Classify alerts (Critical, High, Medium, Low).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 </a:t>
            </a:r>
            <a:r>
              <a:rPr lang="en-US" b="1" dirty="0">
                <a:ea typeface="+mn-lt"/>
                <a:cs typeface="+mn-lt"/>
              </a:rPr>
              <a:t>runbooks</a:t>
            </a:r>
            <a:r>
              <a:rPr lang="en-US" dirty="0">
                <a:ea typeface="+mn-lt"/>
                <a:cs typeface="+mn-lt"/>
              </a:rPr>
              <a:t> for predefined responses.</a:t>
            </a:r>
          </a:p>
          <a:p>
            <a:pPr marL="283210" indent="-283210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Escalation Policy</a:t>
            </a:r>
            <a:endParaRPr lang="en-US" dirty="0"/>
          </a:p>
          <a:p>
            <a:pPr marL="283210" indent="-28321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Define </a:t>
            </a:r>
            <a:r>
              <a:rPr lang="en-US" b="1" dirty="0">
                <a:ea typeface="+mn-lt"/>
                <a:cs typeface="+mn-lt"/>
              </a:rPr>
              <a:t>who gets paged next</a:t>
            </a:r>
            <a:r>
              <a:rPr lang="en-US" dirty="0">
                <a:ea typeface="+mn-lt"/>
                <a:cs typeface="+mn-lt"/>
              </a:rPr>
              <a:t> if an issue is unresolved.</a:t>
            </a:r>
          </a:p>
          <a:p>
            <a:pPr marL="283210" indent="-28321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Escalate within </a:t>
            </a:r>
            <a:r>
              <a:rPr lang="en-US" b="1" dirty="0">
                <a:ea typeface="+mn-lt"/>
                <a:cs typeface="+mn-lt"/>
              </a:rPr>
              <a:t>a set timeframe</a:t>
            </a:r>
            <a:r>
              <a:rPr lang="en-US" dirty="0">
                <a:ea typeface="+mn-lt"/>
                <a:cs typeface="+mn-lt"/>
              </a:rPr>
              <a:t> (e.g., 15-30 mins without response).</a:t>
            </a:r>
            <a:endParaRPr lang="en-US"/>
          </a:p>
          <a:p>
            <a:pPr marL="283210" indent="-28321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555B2-E61B-5E67-8AF0-082FD76D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859" y="457199"/>
            <a:ext cx="8328205" cy="724324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Tools for Pager Rotation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B5AEC-D484-A77F-BC43-7AD14259DB0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54157" y="1351703"/>
            <a:ext cx="10938933" cy="473794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Monitoring &amp; Alerting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Prometheus + </a:t>
            </a:r>
            <a:r>
              <a:rPr lang="en-US" b="1" dirty="0" err="1">
                <a:ea typeface="+mn-lt"/>
                <a:cs typeface="+mn-lt"/>
              </a:rPr>
              <a:t>Alertmanager</a:t>
            </a:r>
            <a:endParaRPr lang="en-US" dirty="0" err="1"/>
          </a:p>
          <a:p>
            <a:pPr marL="283210" indent="-28321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New Relic</a:t>
            </a:r>
            <a:endParaRPr lang="en-US" dirty="0"/>
          </a:p>
          <a:p>
            <a:pPr marL="283210" indent="-28321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Datadog</a:t>
            </a:r>
            <a:endParaRPr lang="en-US" dirty="0"/>
          </a:p>
          <a:p>
            <a:pPr marL="283210" indent="-283210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On-Call Scheduling &amp; Escalations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PagerDuty</a:t>
            </a:r>
            <a:endParaRPr lang="en-US" dirty="0"/>
          </a:p>
          <a:p>
            <a:pPr marL="283210" indent="-28321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OpsGenie</a:t>
            </a:r>
            <a:endParaRPr lang="en-US" dirty="0" err="1"/>
          </a:p>
          <a:p>
            <a:pPr marL="283210" indent="-283210">
              <a:buFont typeface="Arial"/>
              <a:buChar char="•"/>
            </a:pPr>
            <a:r>
              <a:rPr lang="en-US" b="1" dirty="0" err="1">
                <a:ea typeface="+mn-lt"/>
                <a:cs typeface="+mn-lt"/>
              </a:rPr>
              <a:t>VictorOps</a:t>
            </a:r>
            <a:endParaRPr lang="en-US" dirty="0" err="1"/>
          </a:p>
          <a:p>
            <a:pPr marL="283210" indent="-283210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Incident Communication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 marL="283210" indent="-28321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Slack / MS Teams integrations</a:t>
            </a:r>
            <a:endParaRPr lang="en-US" dirty="0"/>
          </a:p>
          <a:p>
            <a:pPr marL="283210" indent="-28321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StatusPage.io for public status updates</a:t>
            </a:r>
            <a:endParaRPr lang="en-US" dirty="0"/>
          </a:p>
          <a:p>
            <a:pPr marL="283210" indent="-28321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96231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85F75-F9BA-D922-7B43-5B1BFD7F9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55" y="445842"/>
            <a:ext cx="10265948" cy="1272686"/>
          </a:xfrm>
        </p:spPr>
        <p:txBody>
          <a:bodyPr/>
          <a:lstStyle/>
          <a:p>
            <a:r>
              <a:rPr lang="en-US" sz="4000" b="0" dirty="0">
                <a:ea typeface="+mj-lt"/>
                <a:cs typeface="+mj-lt"/>
              </a:rPr>
              <a:t>Avoiding Burnout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9E6DEEB-719A-8604-B509-B71E72925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598" y="1710267"/>
            <a:ext cx="10581640" cy="3776133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Limit On-Call Shifts Per Engineer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No more than </a:t>
            </a:r>
            <a:r>
              <a:rPr lang="en-US" sz="1400" b="1" dirty="0">
                <a:ea typeface="+mn-lt"/>
                <a:cs typeface="+mn-lt"/>
              </a:rPr>
              <a:t>one week per month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If employee is full time (40 </a:t>
            </a:r>
            <a:r>
              <a:rPr lang="en-US" sz="1400" dirty="0" err="1">
                <a:ea typeface="+mn-lt"/>
                <a:cs typeface="+mn-lt"/>
              </a:rPr>
              <a:t>hr</a:t>
            </a:r>
            <a:r>
              <a:rPr lang="en-US" sz="1400" dirty="0">
                <a:ea typeface="+mn-lt"/>
                <a:cs typeface="+mn-lt"/>
              </a:rPr>
              <a:t> a week) ensure staffing is up to par to avoid overtime.</a:t>
            </a:r>
          </a:p>
          <a:p>
            <a:pPr marL="285750" indent="-285750">
              <a:buFont typeface="Arial"/>
              <a:buChar char="•"/>
            </a:pPr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Ensure Adequate Rest Periods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No back-to-back on-call rotations.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Do not force overtime on staff (occasional is understood, excessive leads to unsavory results due to exhaustion).</a:t>
            </a:r>
          </a:p>
          <a:p>
            <a:pPr marL="285750" indent="-285750">
              <a:buFont typeface="Arial"/>
              <a:buChar char="•"/>
            </a:pPr>
            <a:endParaRPr lang="en-US" sz="1400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Compensate On-Call Work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Provide </a:t>
            </a:r>
            <a:r>
              <a:rPr lang="en-US" sz="1400" b="1" dirty="0">
                <a:ea typeface="+mn-lt"/>
                <a:cs typeface="+mn-lt"/>
              </a:rPr>
              <a:t>monetary incentives</a:t>
            </a:r>
            <a:r>
              <a:rPr lang="en-US" sz="1400" dirty="0">
                <a:ea typeface="+mn-lt"/>
                <a:cs typeface="+mn-lt"/>
              </a:rPr>
              <a:t> or </a:t>
            </a:r>
            <a:r>
              <a:rPr lang="en-US" sz="1400" b="1" dirty="0">
                <a:ea typeface="+mn-lt"/>
                <a:cs typeface="+mn-lt"/>
              </a:rPr>
              <a:t>extra PTO</a:t>
            </a:r>
            <a:r>
              <a:rPr lang="en-US" sz="1400" dirty="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Overtime pay must be given when met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59051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ACC83-6D64-F059-B208-55E5B96FA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112" y="457200"/>
            <a:ext cx="9962128" cy="1183889"/>
          </a:xfrm>
        </p:spPr>
        <p:txBody>
          <a:bodyPr/>
          <a:lstStyle/>
          <a:p>
            <a:r>
              <a:rPr lang="en-US" sz="4000" b="0" dirty="0">
                <a:ea typeface="+mj-lt"/>
                <a:cs typeface="+mj-lt"/>
              </a:rPr>
              <a:t>Measuring Effectiveness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23822-99EB-FE91-5736-C13057204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2110" y="1715430"/>
            <a:ext cx="9962128" cy="3770970"/>
          </a:xfrm>
        </p:spPr>
        <p:txBody>
          <a:bodyPr/>
          <a:lstStyle/>
          <a:p>
            <a:r>
              <a:rPr lang="en-US" sz="1400" b="1" dirty="0">
                <a:ea typeface="+mn-lt"/>
                <a:cs typeface="+mn-lt"/>
              </a:rPr>
              <a:t>Key Metrics to Track: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MTTA (Mean Time to Acknowledge)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MTTR (Mean Time to Resolve)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Number of After-Hours Pages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Percentage of False Alarms</a:t>
            </a:r>
            <a:endParaRPr lang="en-US" dirty="0"/>
          </a:p>
          <a:p>
            <a:endParaRPr lang="en-US" sz="1400" b="1" dirty="0">
              <a:ea typeface="+mn-lt"/>
              <a:cs typeface="+mn-lt"/>
            </a:endParaRPr>
          </a:p>
          <a:p>
            <a:r>
              <a:rPr lang="en-US" sz="1400" b="1" dirty="0">
                <a:ea typeface="+mn-lt"/>
                <a:cs typeface="+mn-lt"/>
              </a:rPr>
              <a:t>Continuous Improvement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Hold </a:t>
            </a:r>
            <a:r>
              <a:rPr lang="en-US" sz="1400" b="1" dirty="0">
                <a:ea typeface="+mn-lt"/>
                <a:cs typeface="+mn-lt"/>
              </a:rPr>
              <a:t>post-incident retrospectives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Improve </a:t>
            </a:r>
            <a:r>
              <a:rPr lang="en-US" sz="1400" b="1" dirty="0">
                <a:ea typeface="+mn-lt"/>
                <a:cs typeface="+mn-lt"/>
              </a:rPr>
              <a:t>runbooks &amp; automation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38973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280EB-DFD4-5BA0-A568-7820C3FFB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308" y="457200"/>
            <a:ext cx="10082932" cy="1490548"/>
          </a:xfrm>
        </p:spPr>
        <p:txBody>
          <a:bodyPr/>
          <a:lstStyle/>
          <a:p>
            <a:r>
              <a:rPr lang="en-US" b="0" dirty="0">
                <a:ea typeface="+mj-lt"/>
                <a:cs typeface="+mj-lt"/>
              </a:rPr>
              <a:t>Case Study - Google SRE Practices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640DBC-087F-9BFE-3960-6CDBCFE3B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379" y="1957040"/>
            <a:ext cx="10175859" cy="3529360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Google </a:t>
            </a:r>
            <a:r>
              <a:rPr lang="en-US" b="1" dirty="0">
                <a:ea typeface="+mn-lt"/>
                <a:cs typeface="+mn-lt"/>
              </a:rPr>
              <a:t>Site Reliability Engineering (SRE)</a:t>
            </a:r>
            <a:r>
              <a:rPr lang="en-US" dirty="0">
                <a:ea typeface="+mn-lt"/>
                <a:cs typeface="+mn-lt"/>
              </a:rPr>
              <a:t> model follows strict pager rotation policies.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Engineers </a:t>
            </a:r>
            <a:r>
              <a:rPr lang="en-US" b="1" dirty="0">
                <a:ea typeface="+mn-lt"/>
                <a:cs typeface="+mn-lt"/>
              </a:rPr>
              <a:t>spend no more than 50%</a:t>
            </a:r>
            <a:r>
              <a:rPr lang="en-US" dirty="0">
                <a:ea typeface="+mn-lt"/>
                <a:cs typeface="+mn-lt"/>
              </a:rPr>
              <a:t> of their time on-call duties.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 </a:t>
            </a:r>
            <a:r>
              <a:rPr lang="en-US" b="1" dirty="0">
                <a:ea typeface="+mn-lt"/>
                <a:cs typeface="+mn-lt"/>
              </a:rPr>
              <a:t>error budgets</a:t>
            </a:r>
            <a:r>
              <a:rPr lang="en-US" dirty="0">
                <a:ea typeface="+mn-lt"/>
                <a:cs typeface="+mn-lt"/>
              </a:rPr>
              <a:t> to balance reliability and innovation.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Source: </a:t>
            </a:r>
            <a:r>
              <a:rPr lang="en-US" b="1" dirty="0">
                <a:ea typeface="+mn-lt"/>
                <a:cs typeface="+mn-lt"/>
              </a:rPr>
              <a:t>Google SRE Book</a:t>
            </a:r>
            <a:r>
              <a:rPr lang="en-US" dirty="0">
                <a:ea typeface="+mn-lt"/>
                <a:cs typeface="+mn-lt"/>
              </a:rPr>
              <a:t> (Beyer et al., 2016).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122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0D91-728D-DC8E-E22C-69995AD04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576" y="457200"/>
            <a:ext cx="9915664" cy="1165304"/>
          </a:xfrm>
        </p:spPr>
        <p:txBody>
          <a:bodyPr/>
          <a:lstStyle/>
          <a:p>
            <a:r>
              <a:rPr lang="en-US" dirty="0"/>
              <a:t>Sources: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AD415-D118-48D3-568A-DA3C06FAB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647" y="2003503"/>
            <a:ext cx="10008591" cy="3482897"/>
          </a:xfrm>
        </p:spPr>
        <p:txBody>
          <a:bodyPr/>
          <a:lstStyle/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000" dirty="0"/>
              <a:t>Our textbook, chapters 14-16</a:t>
            </a:r>
          </a:p>
          <a:p>
            <a:pPr marL="457200" indent="-457200">
              <a:buFont typeface="Calibri" panose="020B0604020202020204" pitchFamily="34" charset="0"/>
              <a:buChar char="-"/>
            </a:pPr>
            <a:r>
              <a:rPr lang="en-US" sz="2000" dirty="0">
                <a:ea typeface="+mn-lt"/>
                <a:cs typeface="+mn-lt"/>
              </a:rPr>
              <a:t>Nichols C, 2025, OpenAI. (2025). ChatGPT (40 </a:t>
            </a:r>
            <a:r>
              <a:rPr lang="en-US" sz="2000" err="1">
                <a:ea typeface="+mn-lt"/>
                <a:cs typeface="+mn-lt"/>
              </a:rPr>
              <a:t>mimi</a:t>
            </a:r>
            <a:r>
              <a:rPr lang="en-US" sz="2000" dirty="0">
                <a:ea typeface="+mn-lt"/>
                <a:cs typeface="+mn-lt"/>
              </a:rPr>
              <a:t>). https://chat.openai.com/chat</a:t>
            </a:r>
            <a:endParaRPr lang="en-US" sz="2000" dirty="0"/>
          </a:p>
          <a:p>
            <a:pPr>
              <a:buFont typeface="Calibri" panose="020B0604020202020204" pitchFamily="34" charset="0"/>
              <a:buChar char="-"/>
            </a:pPr>
            <a:r>
              <a:rPr lang="en-US" sz="2000" dirty="0">
                <a:ea typeface="+mn-lt"/>
                <a:cs typeface="+mn-lt"/>
              </a:rPr>
              <a:t> Nichols C, 2025, Beyer, B., Jones, C., </a:t>
            </a:r>
            <a:r>
              <a:rPr lang="en-US" sz="2000" err="1">
                <a:ea typeface="+mn-lt"/>
                <a:cs typeface="+mn-lt"/>
              </a:rPr>
              <a:t>Petoff</a:t>
            </a:r>
            <a:r>
              <a:rPr lang="en-US" sz="2000" dirty="0">
                <a:ea typeface="+mn-lt"/>
                <a:cs typeface="+mn-lt"/>
              </a:rPr>
              <a:t>, J., &amp; Murphy, N. (2016). </a:t>
            </a:r>
            <a:r>
              <a:rPr lang="en-US" sz="2000" i="1" dirty="0">
                <a:ea typeface="+mn-lt"/>
                <a:cs typeface="+mn-lt"/>
              </a:rPr>
              <a:t>Site Reliability Engineering: How Google Runs Production Systems</a:t>
            </a:r>
            <a:r>
              <a:rPr lang="en-US" sz="2000" dirty="0">
                <a:ea typeface="+mn-lt"/>
                <a:cs typeface="+mn-lt"/>
              </a:rPr>
              <a:t>. O'Reilly Media.</a:t>
            </a:r>
            <a:endParaRPr lang="en-US" sz="2000" dirty="0"/>
          </a:p>
          <a:p>
            <a:pPr>
              <a:buFont typeface="Calibri" panose="020B0604020202020204" pitchFamily="34" charset="0"/>
              <a:buChar char="-"/>
            </a:pPr>
            <a:r>
              <a:rPr lang="en-US" sz="2000" dirty="0">
                <a:ea typeface="+mn-lt"/>
                <a:cs typeface="+mn-lt"/>
              </a:rPr>
              <a:t>PagerDuty. (2023). </a:t>
            </a:r>
            <a:r>
              <a:rPr lang="en-US" sz="2000" i="1" dirty="0">
                <a:ea typeface="+mn-lt"/>
                <a:cs typeface="+mn-lt"/>
              </a:rPr>
              <a:t>The Ultimate On-Call Guide: Best Practices for Incident Response</a:t>
            </a:r>
            <a:r>
              <a:rPr lang="en-US" sz="2000" dirty="0">
                <a:ea typeface="+mn-lt"/>
                <a:cs typeface="+mn-lt"/>
              </a:rPr>
              <a:t>. </a:t>
            </a:r>
            <a:r>
              <a:rPr lang="en-US" sz="2000" dirty="0">
                <a:ea typeface="+mn-lt"/>
                <a:cs typeface="+mn-lt"/>
                <a:hlinkClick r:id="rId2"/>
              </a:rPr>
              <a:t>https://www.pagerduty.com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2000" dirty="0">
                <a:ea typeface="+mn-lt"/>
                <a:cs typeface="+mn-lt"/>
              </a:rPr>
              <a:t>Google Cloud. (2023). </a:t>
            </a:r>
            <a:r>
              <a:rPr lang="en-US" sz="2000" i="1" dirty="0">
                <a:ea typeface="+mn-lt"/>
                <a:cs typeface="+mn-lt"/>
              </a:rPr>
              <a:t>SRE Principles</a:t>
            </a:r>
            <a:r>
              <a:rPr lang="en-US" sz="2000" dirty="0">
                <a:ea typeface="+mn-lt"/>
                <a:cs typeface="+mn-lt"/>
              </a:rPr>
              <a:t>. </a:t>
            </a:r>
            <a:r>
              <a:rPr lang="en-US" sz="2000" dirty="0">
                <a:ea typeface="+mn-lt"/>
                <a:cs typeface="+mn-lt"/>
                <a:hlinkClick r:id="rId3"/>
              </a:rPr>
              <a:t>https://sre.google</a:t>
            </a:r>
            <a:endParaRPr lang="en-US" sz="2000" dirty="0"/>
          </a:p>
          <a:p>
            <a:pPr marL="457200" indent="-457200">
              <a:buFont typeface="Calibri" panose="020B0604020202020204" pitchFamily="34" charset="0"/>
              <a:buChar char="-"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0-09[=</a:t>
            </a:r>
            <a:r>
              <a:rPr lang="en-US" sz="2000" dirty="0" err="1"/>
              <a:t>pppppppppppppppppppp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8302420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1D3D4E-040D-4F59-9215-B1F04B81B9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E52C7A-8834-4F18-859F-7167A187E13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A7188B1-CB43-4216-A332-EE7733BC22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423</Words>
  <Application>Microsoft Office PowerPoint</Application>
  <PresentationFormat>Widescreen</PresentationFormat>
  <Paragraphs>123</Paragraphs>
  <Slides>10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Custom</vt:lpstr>
      <vt:lpstr>Caitlan Nichols February 14 2025 Module 7.2 - Assignment: Pager Rotation Duties  </vt:lpstr>
      <vt:lpstr>What is Pager Rotation?</vt:lpstr>
      <vt:lpstr>Why is Pager Rotation important?</vt:lpstr>
      <vt:lpstr>Industry Best Practices</vt:lpstr>
      <vt:lpstr>Incident Response and Resolution</vt:lpstr>
      <vt:lpstr>Tools for Pager Rotation</vt:lpstr>
      <vt:lpstr>Avoiding Burnout</vt:lpstr>
      <vt:lpstr>Measuring Effectiveness</vt:lpstr>
      <vt:lpstr>Case Study - Google SRE Practices</vt:lpstr>
      <vt:lpstr>Sources: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435</cp:revision>
  <dcterms:created xsi:type="dcterms:W3CDTF">2024-10-27T00:16:52Z</dcterms:created>
  <dcterms:modified xsi:type="dcterms:W3CDTF">2025-02-15T03:29:31Z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