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88" r:id="rId7"/>
    <p:sldId id="290" r:id="rId8"/>
    <p:sldId id="294" r:id="rId9"/>
    <p:sldId id="298" r:id="rId10"/>
    <p:sldId id="297" r:id="rId11"/>
    <p:sldId id="302" r:id="rId12"/>
    <p:sldId id="303" r:id="rId13"/>
    <p:sldId id="30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66AEE0-5F4E-E09C-EB57-372C2E16865C}" v="389" dt="2025-01-07T06:51:46.673"/>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646" autoAdjust="0"/>
  </p:normalViewPr>
  <p:slideViewPr>
    <p:cSldViewPr snapToGrid="0">
      <p:cViewPr>
        <p:scale>
          <a:sx n="100" d="100"/>
          <a:sy n="100" d="100"/>
        </p:scale>
        <p:origin x="-1238" y="-115"/>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1/6/2025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3319086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cloudbees.com/blog/value-stream-management-software-delivery-visibility-and-insight" TargetMode="External"/><Relationship Id="rId2" Type="http://schemas.openxmlformats.org/officeDocument/2006/relationships/hyperlink" Target="https://plandek.com/blog/lead-time-for-changes/"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sz="4000" b="0" dirty="0">
                <a:latin typeface="Tenorite"/>
                <a:cs typeface="Arial"/>
              </a:rPr>
              <a:t>Caitlan Nichols</a:t>
            </a:r>
            <a:endParaRPr lang="en-US" sz="4000" dirty="0">
              <a:latin typeface="Tenorite"/>
            </a:endParaRPr>
          </a:p>
          <a:p>
            <a:r>
              <a:rPr lang="en-US" sz="4000" b="0" dirty="0">
                <a:latin typeface="Tenorite"/>
                <a:cs typeface="Arial"/>
              </a:rPr>
              <a:t>January 06 2025</a:t>
            </a:r>
            <a:endParaRPr lang="en-US" sz="4000" dirty="0">
              <a:latin typeface="Tenorite"/>
            </a:endParaRPr>
          </a:p>
          <a:p>
            <a:r>
              <a:rPr lang="en-US" sz="4000" b="0" dirty="0">
                <a:latin typeface="Tenorite"/>
                <a:cs typeface="Arial"/>
              </a:rPr>
              <a:t>Module 1.2 - Assignment: </a:t>
            </a:r>
            <a:r>
              <a:rPr lang="en-US" sz="4000" b="0" dirty="0">
                <a:latin typeface="Tenorite"/>
                <a:ea typeface="Open Sans"/>
                <a:cs typeface="Open Sans"/>
              </a:rPr>
              <a:t>The Technology Value Stream</a:t>
            </a:r>
            <a:endParaRPr lang="en-US" sz="4000" dirty="0">
              <a:latin typeface="Tenorite"/>
            </a:endParaRPr>
          </a:p>
          <a:p>
            <a:br>
              <a:rPr lang="en-US" dirty="0"/>
            </a:br>
            <a:endParaRPr lang="en-US" sz="400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b="0" dirty="0">
                <a:ea typeface="+mj-lt"/>
                <a:cs typeface="+mj-lt"/>
              </a:rPr>
              <a:t>Introduction to the Technology Value Stream!</a:t>
            </a:r>
            <a:endParaRPr lang="en-US" dirty="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lnSpcReduction="10000"/>
          </a:bodyPr>
          <a:lstStyle/>
          <a:p>
            <a:pPr marL="457200" indent="-457200">
              <a:buFont typeface="Calibri" panose="020B0604020202020204" pitchFamily="34" charset="0"/>
              <a:buChar char="-"/>
            </a:pPr>
            <a:r>
              <a:rPr lang="en-US" dirty="0">
                <a:ea typeface="+mn-lt"/>
                <a:cs typeface="+mn-lt"/>
              </a:rPr>
              <a:t>Simply put, it's a framework to map/optimize the flow of work and value.</a:t>
            </a:r>
            <a:endParaRPr lang="en-US" dirty="0"/>
          </a:p>
          <a:p>
            <a:pPr marL="457200" indent="-457200">
              <a:buFont typeface="Calibri" panose="020B0604020202020204" pitchFamily="34" charset="0"/>
              <a:buChar char="-"/>
            </a:pPr>
            <a:r>
              <a:rPr lang="en-US" dirty="0">
                <a:ea typeface="+mn-lt"/>
                <a:cs typeface="+mn-lt"/>
              </a:rPr>
              <a:t>Importance of streamlining processes to enhance efficiency and reduce waste.</a:t>
            </a:r>
            <a:br>
              <a:rPr lang="en-US" dirty="0">
                <a:ea typeface="+mn-lt"/>
                <a:cs typeface="+mn-lt"/>
              </a:rPr>
            </a:br>
            <a:endParaRPr lang="en-US" dirty="0">
              <a:ea typeface="+mn-lt"/>
              <a:cs typeface="+mn-lt"/>
            </a:endParaRPr>
          </a:p>
          <a:p>
            <a:pPr marL="457200" indent="-457200">
              <a:buFont typeface="Calibri" panose="020B0604020202020204" pitchFamily="34" charset="0"/>
              <a:buChar char="-"/>
            </a:pPr>
            <a:endParaRPr lang="en-US" dirty="0">
              <a:ea typeface="+mn-lt"/>
              <a:cs typeface="+mn-lt"/>
            </a:endParaRPr>
          </a:p>
          <a:p>
            <a:br>
              <a:rPr lang="en-US" dirty="0">
                <a:ea typeface="+mn-lt"/>
                <a:cs typeface="+mn-lt"/>
              </a:rPr>
            </a:br>
            <a:endParaRPr lang="en-US"/>
          </a:p>
        </p:txBody>
      </p:sp>
      <p:pic>
        <p:nvPicPr>
          <p:cNvPr id="4" name="Picture 3" descr="Value Stream Management: Software Delivery Visibility and Insight">
            <a:extLst>
              <a:ext uri="{FF2B5EF4-FFF2-40B4-BE49-F238E27FC236}">
                <a16:creationId xmlns:a16="http://schemas.microsoft.com/office/drawing/2014/main" id="{83D7C196-35F6-E396-DBB8-F806FC5458F8}"/>
              </a:ext>
            </a:extLst>
          </p:cNvPr>
          <p:cNvPicPr>
            <a:picLocks noChangeAspect="1"/>
          </p:cNvPicPr>
          <p:nvPr/>
        </p:nvPicPr>
        <p:blipFill>
          <a:blip r:embed="rId3"/>
          <a:stretch>
            <a:fillRect/>
          </a:stretch>
        </p:blipFill>
        <p:spPr>
          <a:xfrm>
            <a:off x="1090961" y="3845474"/>
            <a:ext cx="5335858" cy="2781904"/>
          </a:xfrm>
          <a:prstGeom prst="rect">
            <a:avLst/>
          </a:prstGeom>
        </p:spPr>
      </p:pic>
      <p:sp>
        <p:nvSpPr>
          <p:cNvPr id="5" name="TextBox 4">
            <a:extLst>
              <a:ext uri="{FF2B5EF4-FFF2-40B4-BE49-F238E27FC236}">
                <a16:creationId xmlns:a16="http://schemas.microsoft.com/office/drawing/2014/main" id="{0218DEC7-29A9-61CE-6769-7E8995103FAB}"/>
              </a:ext>
            </a:extLst>
          </p:cNvPr>
          <p:cNvSpPr txBox="1"/>
          <p:nvPr/>
        </p:nvSpPr>
        <p:spPr>
          <a:xfrm>
            <a:off x="6545765" y="4770061"/>
            <a:ext cx="148868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Source: https://www.cloudbees.com/blog/value-stream-management-software-delivery-visibility-and-insight</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1244600" y="-1818216"/>
            <a:ext cx="8739623" cy="3200400"/>
          </a:xfrm>
        </p:spPr>
        <p:txBody>
          <a:bodyPr/>
          <a:lstStyle/>
          <a:p>
            <a:r>
              <a:rPr lang="en-US" sz="4000">
                <a:ea typeface="+mj-lt"/>
                <a:cs typeface="+mj-lt"/>
              </a:rPr>
              <a:t>Understanding Lead Time vs. Processing Time</a:t>
            </a:r>
            <a:endParaRPr lang="en-US" sz="4000"/>
          </a:p>
        </p:txBody>
      </p:sp>
      <p:sp>
        <p:nvSpPr>
          <p:cNvPr id="3" name="Subtitle 2">
            <a:extLst>
              <a:ext uri="{FF2B5EF4-FFF2-40B4-BE49-F238E27FC236}">
                <a16:creationId xmlns:a16="http://schemas.microsoft.com/office/drawing/2014/main" id="{26BC9DE8-A5CC-4BE1-0DE5-CB15D01A7919}"/>
              </a:ext>
            </a:extLst>
          </p:cNvPr>
          <p:cNvSpPr>
            <a:spLocks noGrp="1"/>
          </p:cNvSpPr>
          <p:nvPr>
            <p:ph type="subTitle" idx="1"/>
          </p:nvPr>
        </p:nvSpPr>
        <p:spPr>
          <a:xfrm>
            <a:off x="842431" y="1604433"/>
            <a:ext cx="10147723" cy="4210050"/>
          </a:xfrm>
        </p:spPr>
        <p:txBody>
          <a:bodyPr/>
          <a:lstStyle/>
          <a:p>
            <a:pPr marL="285750" indent="-285750">
              <a:buFont typeface="Arial"/>
              <a:buChar char="•"/>
            </a:pPr>
            <a:r>
              <a:rPr lang="en-US" b="1" dirty="0">
                <a:ea typeface="+mn-lt"/>
                <a:cs typeface="+mn-lt"/>
              </a:rPr>
              <a:t>Lead Time</a:t>
            </a:r>
            <a:r>
              <a:rPr lang="en-US" dirty="0">
                <a:ea typeface="+mn-lt"/>
                <a:cs typeface="+mn-lt"/>
              </a:rPr>
              <a:t>: The total time taken from the start of a work item (idea, request) to its completion (deployment).</a:t>
            </a:r>
            <a:endParaRPr lang="en-US" dirty="0"/>
          </a:p>
          <a:p>
            <a:pPr marL="285750" indent="-285750">
              <a:buFont typeface="Arial"/>
              <a:buChar char="•"/>
            </a:pPr>
            <a:r>
              <a:rPr lang="en-US" b="1" dirty="0">
                <a:ea typeface="+mn-lt"/>
                <a:cs typeface="+mn-lt"/>
              </a:rPr>
              <a:t>Processing Time</a:t>
            </a:r>
            <a:r>
              <a:rPr lang="en-US" dirty="0">
                <a:ea typeface="+mn-lt"/>
                <a:cs typeface="+mn-lt"/>
              </a:rPr>
              <a:t>: The actual time spent working on a task during its lifecycle, excluding waiting times.</a:t>
            </a:r>
          </a:p>
          <a:p>
            <a:r>
              <a:rPr lang="en-US" sz="1000" dirty="0">
                <a:ea typeface="+mn-lt"/>
                <a:cs typeface="+mn-lt"/>
              </a:rPr>
              <a:t>(source:  The textbook)</a:t>
            </a:r>
          </a:p>
          <a:p>
            <a:endParaRPr lang="en-US" dirty="0"/>
          </a:p>
        </p:txBody>
      </p:sp>
    </p:spTree>
    <p:extLst>
      <p:ext uri="{BB962C8B-B14F-4D97-AF65-F5344CB8AC3E}">
        <p14:creationId xmlns:p14="http://schemas.microsoft.com/office/powerpoint/2010/main" val="779750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a:lstStyle/>
          <a:p>
            <a:r>
              <a:rPr lang="en-US" sz="4000" dirty="0">
                <a:ea typeface="+mj-lt"/>
                <a:cs typeface="+mj-lt"/>
              </a:rPr>
              <a:t>Common Scenario - Deployment Lead Times Requiring Months</a:t>
            </a:r>
            <a:endParaRPr lang="en-US" sz="4000" b="0" dirty="0"/>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1167493" y="2023984"/>
            <a:ext cx="8917940" cy="5047331"/>
          </a:xfrm>
        </p:spPr>
        <p:txBody>
          <a:bodyPr vert="horz" lIns="91440" tIns="45720" rIns="91440" bIns="45720" rtlCol="0" anchor="t">
            <a:normAutofit/>
          </a:bodyPr>
          <a:lstStyle/>
          <a:p>
            <a:r>
              <a:rPr lang="en-US" dirty="0">
                <a:ea typeface="+mn-lt"/>
                <a:cs typeface="+mn-lt"/>
              </a:rPr>
              <a:t>Describe the typical scenario where software deployment can take months.</a:t>
            </a:r>
          </a:p>
          <a:p>
            <a:r>
              <a:rPr lang="en-US" dirty="0">
                <a:ea typeface="+mn-lt"/>
                <a:cs typeface="+mn-lt"/>
              </a:rPr>
              <a:t>For example: Imagine a financial services company deploying a new trading platform. The software needs to integrate with existing legacy systems. It must comply with law and take into account others.</a:t>
            </a:r>
            <a:br>
              <a:rPr lang="en-US" dirty="0"/>
            </a:br>
            <a:endParaRPr lang="en-US" dirty="0">
              <a:ea typeface="+mn-lt"/>
              <a:cs typeface="+mn-lt"/>
            </a:endParaRPr>
          </a:p>
          <a:p>
            <a:r>
              <a:rPr lang="en-US" dirty="0">
                <a:ea typeface="+mn-lt"/>
                <a:cs typeface="+mn-lt"/>
              </a:rPr>
              <a:t>Discuss reasons for this extended lead time: manual processes (Ex: Human Error and Inconsistencies) , inefficiencies in handoffs (Communication Gaps), bottlenecks in approval or testing (Overloaded Approvers like lack of WIP control).</a:t>
            </a:r>
          </a:p>
          <a:p>
            <a:r>
              <a:rPr lang="en-US">
                <a:ea typeface="+mn-lt"/>
                <a:cs typeface="+mn-lt"/>
              </a:rPr>
              <a:t>Extended lead times in software deployment can pose several challenges to businesses, particularly when it comes to their responsiveness to market demands and their ability to innovate.</a:t>
            </a:r>
          </a:p>
          <a:p>
            <a:endParaRPr lang="en-US" dirty="0"/>
          </a:p>
        </p:txBody>
      </p:sp>
    </p:spTree>
    <p:extLst>
      <p:ext uri="{BB962C8B-B14F-4D97-AF65-F5344CB8AC3E}">
        <p14:creationId xmlns:p14="http://schemas.microsoft.com/office/powerpoint/2010/main" val="1265939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00FF-6B42-7D84-7831-AACC4E189E93}"/>
              </a:ext>
            </a:extLst>
          </p:cNvPr>
          <p:cNvSpPr>
            <a:spLocks noGrp="1"/>
          </p:cNvSpPr>
          <p:nvPr>
            <p:ph type="title"/>
          </p:nvPr>
        </p:nvSpPr>
        <p:spPr>
          <a:xfrm>
            <a:off x="1754977" y="-474134"/>
            <a:ext cx="8511477" cy="1920240"/>
          </a:xfrm>
        </p:spPr>
        <p:txBody>
          <a:bodyPr/>
          <a:lstStyle/>
          <a:p>
            <a:r>
              <a:rPr lang="en-US" b="0" dirty="0">
                <a:ea typeface="+mj-lt"/>
                <a:cs typeface="+mj-lt"/>
              </a:rPr>
              <a:t>Our DevOps Ideal - Deployment Lead Times of Minutes</a:t>
            </a:r>
            <a:endParaRPr lang="en-US" dirty="0"/>
          </a:p>
        </p:txBody>
      </p:sp>
      <p:sp>
        <p:nvSpPr>
          <p:cNvPr id="4" name="Content Placeholder 3">
            <a:extLst>
              <a:ext uri="{FF2B5EF4-FFF2-40B4-BE49-F238E27FC236}">
                <a16:creationId xmlns:a16="http://schemas.microsoft.com/office/drawing/2014/main" id="{DE5C7B5A-A5C3-15D4-DF71-B692D28942FC}"/>
              </a:ext>
            </a:extLst>
          </p:cNvPr>
          <p:cNvSpPr>
            <a:spLocks noGrp="1"/>
          </p:cNvSpPr>
          <p:nvPr>
            <p:ph idx="15"/>
          </p:nvPr>
        </p:nvSpPr>
        <p:spPr>
          <a:xfrm>
            <a:off x="554568" y="1447272"/>
            <a:ext cx="10938932" cy="4642378"/>
          </a:xfrm>
        </p:spPr>
        <p:txBody>
          <a:bodyPr vert="horz" lIns="91440" tIns="45720" rIns="91440" bIns="45720" rtlCol="0" anchor="t">
            <a:normAutofit/>
          </a:bodyPr>
          <a:lstStyle/>
          <a:p>
            <a:pPr marL="283210" indent="-283210">
              <a:buNone/>
            </a:pPr>
            <a:r>
              <a:rPr lang="en-US" dirty="0">
                <a:ea typeface="+mn-lt"/>
                <a:cs typeface="+mn-lt"/>
              </a:rPr>
              <a:t>The </a:t>
            </a:r>
            <a:r>
              <a:rPr lang="en-US" b="1" dirty="0">
                <a:ea typeface="+mn-lt"/>
                <a:cs typeface="+mn-lt"/>
              </a:rPr>
              <a:t>DevOps ideal</a:t>
            </a:r>
            <a:r>
              <a:rPr lang="en-US" dirty="0">
                <a:ea typeface="+mn-lt"/>
                <a:cs typeface="+mn-lt"/>
              </a:rPr>
              <a:t> of drastically reducing deployment lead times. This allows businesses to transform their software development and deployment processes. Turning them into an agile, automated, and collaborative effort for a company rather than a guessing game.</a:t>
            </a:r>
            <a:endParaRPr lang="en-US" dirty="0"/>
          </a:p>
          <a:p>
            <a:pPr marL="283210" indent="-283210">
              <a:buNone/>
            </a:pPr>
            <a:r>
              <a:rPr lang="en-US">
                <a:ea typeface="+mn-lt"/>
                <a:cs typeface="+mn-lt"/>
              </a:rPr>
              <a:t>Benefits: Faster release cycles, more frequent updates, quicker user feedback.</a:t>
            </a:r>
            <a:endParaRPr lang="en-US"/>
          </a:p>
          <a:p>
            <a:pPr marL="283210" indent="-283210">
              <a:buNone/>
            </a:pPr>
            <a:r>
              <a:rPr lang="en-US">
                <a:ea typeface="+mn-lt"/>
                <a:cs typeface="+mn-lt"/>
              </a:rPr>
              <a:t>Highlight key strategies used in DevOps, such as automation, CI/CD pipelines, and collaborative culture.</a:t>
            </a:r>
            <a:endParaRPr lang="en-US"/>
          </a:p>
          <a:p>
            <a:pPr marL="0" indent="0">
              <a:buNone/>
            </a:pPr>
            <a:r>
              <a:rPr lang="en-US" dirty="0">
                <a:ea typeface="+mn-lt"/>
                <a:cs typeface="+mn-lt"/>
              </a:rPr>
              <a:t>Source: DevOps Handbook.</a:t>
            </a:r>
            <a:endParaRPr lang="en-US"/>
          </a:p>
        </p:txBody>
      </p:sp>
    </p:spTree>
    <p:extLst>
      <p:ext uri="{BB962C8B-B14F-4D97-AF65-F5344CB8AC3E}">
        <p14:creationId xmlns:p14="http://schemas.microsoft.com/office/powerpoint/2010/main" val="853261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377F6-4DBB-965A-FFBF-76250998F07D}"/>
              </a:ext>
            </a:extLst>
          </p:cNvPr>
          <p:cNvSpPr>
            <a:spLocks noGrp="1"/>
          </p:cNvSpPr>
          <p:nvPr>
            <p:ph type="title"/>
          </p:nvPr>
        </p:nvSpPr>
        <p:spPr>
          <a:xfrm>
            <a:off x="1212851" y="-1595967"/>
            <a:ext cx="10147723" cy="3189817"/>
          </a:xfrm>
        </p:spPr>
        <p:txBody>
          <a:bodyPr/>
          <a:lstStyle/>
          <a:p>
            <a:r>
              <a:rPr lang="en-US" b="0" dirty="0">
                <a:ea typeface="+mj-lt"/>
                <a:cs typeface="+mj-lt"/>
              </a:rPr>
              <a:t>Deployment Lead Times Comparison </a:t>
            </a:r>
            <a:endParaRPr lang="en-US" dirty="0"/>
          </a:p>
        </p:txBody>
      </p:sp>
      <p:sp>
        <p:nvSpPr>
          <p:cNvPr id="3" name="Subtitle 2">
            <a:extLst>
              <a:ext uri="{FF2B5EF4-FFF2-40B4-BE49-F238E27FC236}">
                <a16:creationId xmlns:a16="http://schemas.microsoft.com/office/drawing/2014/main" id="{3AA6667D-2FF5-8C61-AA79-DEF689AAC89A}"/>
              </a:ext>
            </a:extLst>
          </p:cNvPr>
          <p:cNvSpPr>
            <a:spLocks noGrp="1"/>
          </p:cNvSpPr>
          <p:nvPr>
            <p:ph type="subTitle" idx="1"/>
          </p:nvPr>
        </p:nvSpPr>
        <p:spPr>
          <a:xfrm>
            <a:off x="6535490" y="1445684"/>
            <a:ext cx="1090456" cy="4040716"/>
          </a:xfrm>
        </p:spPr>
        <p:txBody>
          <a:bodyPr/>
          <a:lstStyle/>
          <a:p>
            <a:r>
              <a:rPr lang="en-US" sz="1000" dirty="0"/>
              <a:t>Source: </a:t>
            </a:r>
            <a:r>
              <a:rPr lang="en-US" sz="1000" dirty="0">
                <a:ea typeface="+mn-lt"/>
                <a:cs typeface="+mn-lt"/>
              </a:rPr>
              <a:t>https://plandek.com/blog/lead-time-for-changes/</a:t>
            </a:r>
            <a:endParaRPr lang="en-US" sz="1000" dirty="0"/>
          </a:p>
        </p:txBody>
      </p:sp>
      <p:pic>
        <p:nvPicPr>
          <p:cNvPr id="4" name="Picture 3" descr="Lead Time for Changes - DORA metrics">
            <a:extLst>
              <a:ext uri="{FF2B5EF4-FFF2-40B4-BE49-F238E27FC236}">
                <a16:creationId xmlns:a16="http://schemas.microsoft.com/office/drawing/2014/main" id="{87668CBE-2DE6-B6A4-218B-0F97D26CF292}"/>
              </a:ext>
            </a:extLst>
          </p:cNvPr>
          <p:cNvPicPr>
            <a:picLocks noChangeAspect="1"/>
          </p:cNvPicPr>
          <p:nvPr/>
        </p:nvPicPr>
        <p:blipFill>
          <a:blip r:embed="rId2"/>
          <a:stretch>
            <a:fillRect/>
          </a:stretch>
        </p:blipFill>
        <p:spPr>
          <a:xfrm>
            <a:off x="282498" y="1442157"/>
            <a:ext cx="6246540" cy="4531245"/>
          </a:xfrm>
          <a:prstGeom prst="rect">
            <a:avLst/>
          </a:prstGeom>
        </p:spPr>
      </p:pic>
    </p:spTree>
    <p:extLst>
      <p:ext uri="{BB962C8B-B14F-4D97-AF65-F5344CB8AC3E}">
        <p14:creationId xmlns:p14="http://schemas.microsoft.com/office/powerpoint/2010/main" val="870104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555B2-E61B-5E67-8AF0-082FD76DA885}"/>
              </a:ext>
            </a:extLst>
          </p:cNvPr>
          <p:cNvSpPr>
            <a:spLocks noGrp="1"/>
          </p:cNvSpPr>
          <p:nvPr>
            <p:ph type="title"/>
          </p:nvPr>
        </p:nvSpPr>
        <p:spPr>
          <a:xfrm>
            <a:off x="1798859" y="457199"/>
            <a:ext cx="8328205" cy="724324"/>
          </a:xfrm>
        </p:spPr>
        <p:txBody>
          <a:bodyPr/>
          <a:lstStyle/>
          <a:p>
            <a:r>
              <a:rPr lang="en-US" b="0" dirty="0">
                <a:ea typeface="+mj-lt"/>
                <a:cs typeface="+mj-lt"/>
              </a:rPr>
              <a:t>The Role of Continuous Integration &amp; Delivery (CI/CD)</a:t>
            </a:r>
            <a:endParaRPr lang="en-US" dirty="0"/>
          </a:p>
        </p:txBody>
      </p:sp>
      <p:sp>
        <p:nvSpPr>
          <p:cNvPr id="4" name="Content Placeholder 3">
            <a:extLst>
              <a:ext uri="{FF2B5EF4-FFF2-40B4-BE49-F238E27FC236}">
                <a16:creationId xmlns:a16="http://schemas.microsoft.com/office/drawing/2014/main" id="{ADCB5AEC-D484-A77F-BC43-7AD14259DB0D}"/>
              </a:ext>
            </a:extLst>
          </p:cNvPr>
          <p:cNvSpPr>
            <a:spLocks noGrp="1"/>
          </p:cNvSpPr>
          <p:nvPr>
            <p:ph idx="15"/>
          </p:nvPr>
        </p:nvSpPr>
        <p:spPr>
          <a:xfrm>
            <a:off x="554157" y="1351703"/>
            <a:ext cx="10938933" cy="4737945"/>
          </a:xfrm>
        </p:spPr>
        <p:txBody>
          <a:bodyPr vert="horz" lIns="91440" tIns="45720" rIns="91440" bIns="45720" rtlCol="0" anchor="t">
            <a:normAutofit/>
          </a:bodyPr>
          <a:lstStyle/>
          <a:p>
            <a:pPr marL="283210" indent="-283210">
              <a:buFont typeface="Arial"/>
              <a:buChar char="•"/>
            </a:pPr>
            <a:r>
              <a:rPr lang="en-US" b="1" dirty="0">
                <a:ea typeface="+mn-lt"/>
                <a:cs typeface="+mn-lt"/>
              </a:rPr>
              <a:t>Continuous Integration</a:t>
            </a:r>
            <a:r>
              <a:rPr lang="en-US" dirty="0">
                <a:ea typeface="+mn-lt"/>
                <a:cs typeface="+mn-lt"/>
              </a:rPr>
              <a:t> ensures that developers frequently integrate their code into a shared repository (multiple times a day). Each integration triggers an automated build and test process, allowing teams to detect errors early.</a:t>
            </a:r>
          </a:p>
          <a:p>
            <a:pPr marL="283210" indent="-283210">
              <a:buFont typeface="Arial"/>
              <a:buChar char="•"/>
            </a:pPr>
            <a:r>
              <a:rPr lang="en-US" b="1" dirty="0">
                <a:ea typeface="+mn-lt"/>
                <a:cs typeface="+mn-lt"/>
              </a:rPr>
              <a:t>Continuous Delivery</a:t>
            </a:r>
            <a:r>
              <a:rPr lang="en-US" dirty="0">
                <a:ea typeface="+mn-lt"/>
                <a:cs typeface="+mn-lt"/>
              </a:rPr>
              <a:t> extends this by automating the deployment pipeline, so that code that passes through CI is automatically prepared for deployment to production or other environments. This ensures that the software is always in a deployable state and that releases can happen with minimal manual intervention.</a:t>
            </a:r>
          </a:p>
          <a:p>
            <a:pPr marL="0" indent="0">
              <a:buNone/>
            </a:pPr>
            <a:endParaRPr lang="en-US" dirty="0">
              <a:ea typeface="+mn-lt"/>
              <a:cs typeface="+mn-lt"/>
            </a:endParaRPr>
          </a:p>
        </p:txBody>
      </p:sp>
    </p:spTree>
    <p:extLst>
      <p:ext uri="{BB962C8B-B14F-4D97-AF65-F5344CB8AC3E}">
        <p14:creationId xmlns:p14="http://schemas.microsoft.com/office/powerpoint/2010/main" val="2996231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5F75-F9BA-D922-7B43-5B1BFD7F9957}"/>
              </a:ext>
            </a:extLst>
          </p:cNvPr>
          <p:cNvSpPr>
            <a:spLocks noGrp="1"/>
          </p:cNvSpPr>
          <p:nvPr>
            <p:ph type="title"/>
          </p:nvPr>
        </p:nvSpPr>
        <p:spPr>
          <a:xfrm>
            <a:off x="485955" y="445842"/>
            <a:ext cx="10265948" cy="1272686"/>
          </a:xfrm>
        </p:spPr>
        <p:txBody>
          <a:bodyPr/>
          <a:lstStyle/>
          <a:p>
            <a:r>
              <a:rPr lang="en-US" sz="4000" b="0" dirty="0">
                <a:ea typeface="+mj-lt"/>
                <a:cs typeface="+mj-lt"/>
              </a:rPr>
              <a:t>Challenges in Achieving Fast Deployment Lead Times</a:t>
            </a:r>
            <a:endParaRPr lang="en-US" dirty="0"/>
          </a:p>
        </p:txBody>
      </p:sp>
      <p:sp>
        <p:nvSpPr>
          <p:cNvPr id="6" name="Subtitle 5">
            <a:extLst>
              <a:ext uri="{FF2B5EF4-FFF2-40B4-BE49-F238E27FC236}">
                <a16:creationId xmlns:a16="http://schemas.microsoft.com/office/drawing/2014/main" id="{59E6DEEB-719A-8604-B509-B71E729252EE}"/>
              </a:ext>
            </a:extLst>
          </p:cNvPr>
          <p:cNvSpPr>
            <a:spLocks noGrp="1"/>
          </p:cNvSpPr>
          <p:nvPr>
            <p:ph type="subTitle" idx="1"/>
          </p:nvPr>
        </p:nvSpPr>
        <p:spPr>
          <a:xfrm>
            <a:off x="482598" y="1710267"/>
            <a:ext cx="10581640" cy="3776133"/>
          </a:xfrm>
        </p:spPr>
        <p:txBody>
          <a:bodyPr/>
          <a:lstStyle/>
          <a:p>
            <a:r>
              <a:rPr lang="en-US" sz="1400" b="1" dirty="0">
                <a:ea typeface="+mn-lt"/>
                <a:cs typeface="+mn-lt"/>
              </a:rPr>
              <a:t>Challenges</a:t>
            </a:r>
            <a:r>
              <a:rPr lang="en-US" sz="1400" dirty="0">
                <a:ea typeface="+mn-lt"/>
                <a:cs typeface="+mn-lt"/>
              </a:rPr>
              <a:t>:</a:t>
            </a:r>
            <a:endParaRPr lang="en-US" dirty="0"/>
          </a:p>
          <a:p>
            <a:pPr marL="285750" indent="-285750">
              <a:buFont typeface="Arial"/>
              <a:buChar char="•"/>
            </a:pPr>
            <a:r>
              <a:rPr lang="en-US" sz="1400" b="1" dirty="0">
                <a:ea typeface="+mn-lt"/>
                <a:cs typeface="+mn-lt"/>
              </a:rPr>
              <a:t>Outdated Architecture</a:t>
            </a:r>
            <a:r>
              <a:rPr lang="en-US" sz="1400" dirty="0">
                <a:ea typeface="+mn-lt"/>
                <a:cs typeface="+mn-lt"/>
              </a:rPr>
              <a:t>: Legacy systems often have tight coupling between components, making it difficult to update or deploy new features without risking system stability.</a:t>
            </a:r>
            <a:endParaRPr lang="en-US" dirty="0"/>
          </a:p>
          <a:p>
            <a:pPr marL="285750" indent="-285750">
              <a:buFont typeface="Arial"/>
              <a:buChar char="•"/>
            </a:pPr>
            <a:r>
              <a:rPr lang="en-US" sz="1400" b="1" dirty="0">
                <a:ea typeface="+mn-lt"/>
                <a:cs typeface="+mn-lt"/>
              </a:rPr>
              <a:t>Manual Processes</a:t>
            </a:r>
            <a:r>
              <a:rPr lang="en-US" sz="1400" dirty="0">
                <a:ea typeface="+mn-lt"/>
                <a:cs typeface="+mn-lt"/>
              </a:rPr>
              <a:t>: Many legacy systems require manual intervention for deployment, testing, and configuration, which adds significant lead time.</a:t>
            </a:r>
            <a:endParaRPr lang="en-US" dirty="0"/>
          </a:p>
          <a:p>
            <a:pPr marL="285750" indent="-285750">
              <a:buFont typeface="Arial"/>
              <a:buChar char="•"/>
            </a:pPr>
            <a:r>
              <a:rPr lang="en-US" sz="1400" b="1" dirty="0">
                <a:ea typeface="+mn-lt"/>
                <a:cs typeface="+mn-lt"/>
              </a:rPr>
              <a:t>Technical Debt</a:t>
            </a:r>
            <a:r>
              <a:rPr lang="en-US" sz="1400" dirty="0">
                <a:ea typeface="+mn-lt"/>
                <a:cs typeface="+mn-lt"/>
              </a:rPr>
              <a:t>: Over time, legacy systems accumulate technical debt that complicates efforts to automate processes, making it difficult to implement modern DevOps practices.</a:t>
            </a:r>
            <a:endParaRPr lang="en-US" dirty="0"/>
          </a:p>
          <a:p>
            <a:endParaRPr lang="en-US" sz="1400" dirty="0"/>
          </a:p>
        </p:txBody>
      </p:sp>
    </p:spTree>
    <p:extLst>
      <p:ext uri="{BB962C8B-B14F-4D97-AF65-F5344CB8AC3E}">
        <p14:creationId xmlns:p14="http://schemas.microsoft.com/office/powerpoint/2010/main" val="959051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CC83-6D64-F059-B208-55E5B96FA602}"/>
              </a:ext>
            </a:extLst>
          </p:cNvPr>
          <p:cNvSpPr>
            <a:spLocks noGrp="1"/>
          </p:cNvSpPr>
          <p:nvPr>
            <p:ph type="title"/>
          </p:nvPr>
        </p:nvSpPr>
        <p:spPr>
          <a:xfrm>
            <a:off x="1102112" y="457200"/>
            <a:ext cx="9962128" cy="1183889"/>
          </a:xfrm>
        </p:spPr>
        <p:txBody>
          <a:bodyPr/>
          <a:lstStyle/>
          <a:p>
            <a:r>
              <a:rPr lang="en-US" sz="4000" b="0" dirty="0">
                <a:ea typeface="+mj-lt"/>
                <a:cs typeface="+mj-lt"/>
              </a:rPr>
              <a:t>Solutions in Achieving Fast Deployment Lead Times</a:t>
            </a:r>
          </a:p>
        </p:txBody>
      </p:sp>
      <p:sp>
        <p:nvSpPr>
          <p:cNvPr id="3" name="Subtitle 2">
            <a:extLst>
              <a:ext uri="{FF2B5EF4-FFF2-40B4-BE49-F238E27FC236}">
                <a16:creationId xmlns:a16="http://schemas.microsoft.com/office/drawing/2014/main" id="{95B23822-99EB-FE91-5736-C13057204069}"/>
              </a:ext>
            </a:extLst>
          </p:cNvPr>
          <p:cNvSpPr>
            <a:spLocks noGrp="1"/>
          </p:cNvSpPr>
          <p:nvPr>
            <p:ph type="subTitle" idx="1"/>
          </p:nvPr>
        </p:nvSpPr>
        <p:spPr>
          <a:xfrm>
            <a:off x="1102110" y="1715430"/>
            <a:ext cx="9962128" cy="3770970"/>
          </a:xfrm>
        </p:spPr>
        <p:txBody>
          <a:bodyPr/>
          <a:lstStyle/>
          <a:p>
            <a:pPr marL="285750" indent="-285750">
              <a:buFont typeface="Arial"/>
              <a:buChar char="•"/>
            </a:pPr>
            <a:r>
              <a:rPr lang="en-US" sz="1400" b="1" dirty="0">
                <a:ea typeface="+mn-lt"/>
                <a:cs typeface="+mn-lt"/>
              </a:rPr>
              <a:t>Incremental Modernization</a:t>
            </a:r>
            <a:r>
              <a:rPr lang="en-US" sz="1400" dirty="0">
                <a:ea typeface="+mn-lt"/>
                <a:cs typeface="+mn-lt"/>
              </a:rPr>
              <a:t>: Instead of attempting to overhaul legacy systems entirely, organizations can incrementally modernize their systems. For example, moving to microservices architectures allows parts of the application to be updated or replaced without impacting the entire system.</a:t>
            </a:r>
            <a:endParaRPr lang="en-US" sz="1400" dirty="0"/>
          </a:p>
          <a:p>
            <a:pPr marL="285750" indent="-285750">
              <a:buFont typeface="Arial"/>
              <a:buChar char="•"/>
            </a:pPr>
            <a:r>
              <a:rPr lang="en-US" sz="1400" b="1" dirty="0">
                <a:ea typeface="+mn-lt"/>
                <a:cs typeface="+mn-lt"/>
              </a:rPr>
              <a:t>Containerization</a:t>
            </a:r>
            <a:r>
              <a:rPr lang="en-US" sz="1400" dirty="0">
                <a:ea typeface="+mn-lt"/>
                <a:cs typeface="+mn-lt"/>
              </a:rPr>
              <a:t>: Using tools like </a:t>
            </a:r>
            <a:r>
              <a:rPr lang="en-US" sz="1400" b="1" dirty="0">
                <a:ea typeface="+mn-lt"/>
                <a:cs typeface="+mn-lt"/>
              </a:rPr>
              <a:t>Docker</a:t>
            </a:r>
            <a:r>
              <a:rPr lang="en-US" sz="1400" dirty="0">
                <a:ea typeface="+mn-lt"/>
                <a:cs typeface="+mn-lt"/>
              </a:rPr>
              <a:t> can help encapsulate legacy applications in containers, making them more portable and manageable in modern environments. This enables more automated deployments and reduces the impact of manual processes.</a:t>
            </a:r>
            <a:endParaRPr lang="en-US" sz="1400" dirty="0"/>
          </a:p>
          <a:p>
            <a:pPr marL="285750" indent="-285750">
              <a:buFont typeface="Arial"/>
              <a:buChar char="•"/>
            </a:pPr>
            <a:r>
              <a:rPr lang="en-US" sz="1400" b="1" dirty="0">
                <a:ea typeface="+mn-lt"/>
                <a:cs typeface="+mn-lt"/>
              </a:rPr>
              <a:t>API Wrappers</a:t>
            </a:r>
            <a:r>
              <a:rPr lang="en-US" sz="1400" dirty="0">
                <a:ea typeface="+mn-lt"/>
                <a:cs typeface="+mn-lt"/>
              </a:rPr>
              <a:t>: Wrapping legacy systems with APIs can provide a way to modernize functionality without requiring a complete rewrite. APIs allow newer systems to integrate with older infrastructure more seamlessly, reducing deployment bottlenecks.</a:t>
            </a:r>
            <a:endParaRPr lang="en-US" sz="1400" dirty="0"/>
          </a:p>
          <a:p>
            <a:endParaRPr lang="en-US" sz="1400" dirty="0"/>
          </a:p>
        </p:txBody>
      </p:sp>
    </p:spTree>
    <p:extLst>
      <p:ext uri="{BB962C8B-B14F-4D97-AF65-F5344CB8AC3E}">
        <p14:creationId xmlns:p14="http://schemas.microsoft.com/office/powerpoint/2010/main" val="2538973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0D91-728D-DC8E-E22C-69995AD04AF9}"/>
              </a:ext>
            </a:extLst>
          </p:cNvPr>
          <p:cNvSpPr>
            <a:spLocks noGrp="1"/>
          </p:cNvSpPr>
          <p:nvPr>
            <p:ph type="title"/>
          </p:nvPr>
        </p:nvSpPr>
        <p:spPr>
          <a:xfrm>
            <a:off x="1148576" y="457200"/>
            <a:ext cx="9915664" cy="1165304"/>
          </a:xfrm>
        </p:spPr>
        <p:txBody>
          <a:bodyPr/>
          <a:lstStyle/>
          <a:p>
            <a:r>
              <a:rPr lang="en-US" dirty="0"/>
              <a:t>Sources:</a:t>
            </a:r>
          </a:p>
        </p:txBody>
      </p:sp>
      <p:sp>
        <p:nvSpPr>
          <p:cNvPr id="3" name="Subtitle 2">
            <a:extLst>
              <a:ext uri="{FF2B5EF4-FFF2-40B4-BE49-F238E27FC236}">
                <a16:creationId xmlns:a16="http://schemas.microsoft.com/office/drawing/2014/main" id="{950AD415-D118-48D3-568A-DA3C06FAB702}"/>
              </a:ext>
            </a:extLst>
          </p:cNvPr>
          <p:cNvSpPr>
            <a:spLocks noGrp="1"/>
          </p:cNvSpPr>
          <p:nvPr>
            <p:ph type="subTitle" idx="1"/>
          </p:nvPr>
        </p:nvSpPr>
        <p:spPr>
          <a:xfrm>
            <a:off x="1055647" y="2003503"/>
            <a:ext cx="10008591" cy="3482897"/>
          </a:xfrm>
        </p:spPr>
        <p:txBody>
          <a:bodyPr/>
          <a:lstStyle/>
          <a:p>
            <a:pPr marL="457200" indent="-457200">
              <a:buFont typeface="Calibri" panose="020B0604020202020204" pitchFamily="34" charset="0"/>
              <a:buChar char="-"/>
            </a:pPr>
            <a:r>
              <a:rPr lang="en-US"/>
              <a:t>Our textbook, chapters 1-4</a:t>
            </a:r>
          </a:p>
          <a:p>
            <a:pPr marL="457200" indent="-457200">
              <a:buFont typeface="Calibri" panose="020B0604020202020204" pitchFamily="34" charset="0"/>
              <a:buChar char="-"/>
            </a:pPr>
            <a:r>
              <a:rPr lang="en-US" dirty="0"/>
              <a:t>ChatGPT (to help lessen my words and organize </a:t>
            </a:r>
            <a:r>
              <a:rPr lang="en-US"/>
              <a:t>things)</a:t>
            </a:r>
          </a:p>
          <a:p>
            <a:pPr marL="457200" indent="-457200">
              <a:buFont typeface="Calibri" panose="020B0604020202020204" pitchFamily="34" charset="0"/>
              <a:buChar char="-"/>
            </a:pPr>
            <a:r>
              <a:rPr lang="en-US" dirty="0">
                <a:hlinkClick r:id="rId2"/>
              </a:rPr>
              <a:t>https://plandek.com/blog/lead-time-for-changes/</a:t>
            </a:r>
          </a:p>
          <a:p>
            <a:pPr marL="457200" indent="-457200">
              <a:buFont typeface="Calibri" panose="020B0604020202020204" pitchFamily="34" charset="0"/>
              <a:buChar char="-"/>
            </a:pPr>
            <a:r>
              <a:rPr lang="en-US" dirty="0">
                <a:hlinkClick r:id="rId3"/>
              </a:rPr>
              <a:t>https://www.cloudbees.com/blog/value-stream-management-software-delivery-visibility-and-insight</a:t>
            </a:r>
            <a:endParaRPr lang="en-US"/>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0-09[=</a:t>
            </a:r>
            <a:r>
              <a:rPr lang="en-US" dirty="0" err="1"/>
              <a:t>pppppppppppppppppppp</a:t>
            </a:r>
            <a:endParaRPr lang="en-US"/>
          </a:p>
        </p:txBody>
      </p:sp>
    </p:spTree>
    <p:extLst>
      <p:ext uri="{BB962C8B-B14F-4D97-AF65-F5344CB8AC3E}">
        <p14:creationId xmlns:p14="http://schemas.microsoft.com/office/powerpoint/2010/main" val="983024201"/>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E52C7A-8834-4F18-859F-7167A187E13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31D3D4E-040D-4F59-9215-B1F04B81B9FE}">
  <ds:schemaRefs>
    <ds:schemaRef ds:uri="http://schemas.microsoft.com/sharepoint/v3/contenttype/forms"/>
  </ds:schemaRefs>
</ds:datastoreItem>
</file>

<file path=customXml/itemProps3.xml><?xml version="1.0" encoding="utf-8"?>
<ds:datastoreItem xmlns:ds="http://schemas.openxmlformats.org/officeDocument/2006/customXml" ds:itemID="{5A7188B1-CB43-4216-A332-EE7733BC22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423</Words>
  <Application>Microsoft Office PowerPoint</Application>
  <PresentationFormat>Widescreen</PresentationFormat>
  <Paragraphs>123</Paragraphs>
  <Slides>10</Slides>
  <Notes>5</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Custom</vt:lpstr>
      <vt:lpstr>Caitlan Nichols January 06 2025 Module 1.2 - Assignment: The Technology Value Stream  </vt:lpstr>
      <vt:lpstr>Introduction to the Technology Value Stream!</vt:lpstr>
      <vt:lpstr>Understanding Lead Time vs. Processing Time</vt:lpstr>
      <vt:lpstr>Common Scenario - Deployment Lead Times Requiring Months</vt:lpstr>
      <vt:lpstr>Our DevOps Ideal - Deployment Lead Times of Minutes</vt:lpstr>
      <vt:lpstr>Deployment Lead Times Comparison </vt:lpstr>
      <vt:lpstr>The Role of Continuous Integration &amp; Delivery (CI/CD)</vt:lpstr>
      <vt:lpstr>Challenges in Achieving Fast Deployment Lead Times</vt:lpstr>
      <vt:lpstr>Solutions in Achieving Fast Deployment Lead Times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357</cp:revision>
  <dcterms:created xsi:type="dcterms:W3CDTF">2024-10-27T00:16:52Z</dcterms:created>
  <dcterms:modified xsi:type="dcterms:W3CDTF">2025-01-07T06:51:57Z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