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88" r:id="rId7"/>
    <p:sldId id="290" r:id="rId8"/>
    <p:sldId id="294" r:id="rId9"/>
    <p:sldId id="297" r:id="rId10"/>
    <p:sldId id="302" r:id="rId11"/>
    <p:sldId id="303" r:id="rId12"/>
    <p:sldId id="305" r:id="rId13"/>
    <p:sldId id="306" r:id="rId14"/>
    <p:sldId id="30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3732A1-C7C1-8AE1-CA29-90C8F77EA903}" v="148" dt="2025-03-02T07:12:48.827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3/1/2025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7438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0868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086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anchor="ctr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26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0" y="457200"/>
            <a:ext cx="5120640" cy="3200400"/>
          </a:xfrm>
        </p:spPr>
        <p:txBody>
          <a:bodyPr anchor="b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63DBBF-E63D-81E5-E7CE-32F6F2C2F9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43598" y="3657600"/>
            <a:ext cx="5120640" cy="18288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4033732-ADA1-C540-7276-3FF5CDEF2C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4238" y="1157224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856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and Image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208822" cy="6858002"/>
            <a:chOff x="0" y="0"/>
            <a:chExt cx="12208822" cy="685800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10643508" cy="137160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07A1CF7-9B3B-E43E-830E-DAB65B60824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166088" y="2652713"/>
            <a:ext cx="5394959" cy="343693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D976D8D6-3BDC-1908-3425-FEE3EEF51A2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17920" y="1447800"/>
            <a:ext cx="4214010" cy="421401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030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mart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9692640" cy="137160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5E425B-455F-127B-1647-045FD094F15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167493" y="2087561"/>
            <a:ext cx="2693306" cy="389054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2000">
                <a:latin typeface="+mn-lt"/>
              </a:defRPr>
            </a:lvl2pPr>
            <a:lvl3pPr marL="914400" indent="0">
              <a:buNone/>
              <a:defRPr sz="2000">
                <a:latin typeface="+mn-lt"/>
              </a:defRPr>
            </a:lvl3pPr>
            <a:lvl4pPr marL="1371600" indent="0">
              <a:buNone/>
              <a:defRPr sz="2000">
                <a:latin typeface="+mn-lt"/>
              </a:defRPr>
            </a:lvl4pPr>
            <a:lvl5pPr marL="1828800" indent="0">
              <a:buNone/>
              <a:defRPr sz="20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16400" y="2087563"/>
            <a:ext cx="6730274" cy="389054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098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79F46B00-4AE8-52A2-6926-FC2F5DD1F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364" y="0"/>
            <a:ext cx="12194364" cy="6858000"/>
            <a:chOff x="-2364" y="0"/>
            <a:chExt cx="12194364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rot="5400000">
              <a:off x="8580896" y="0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>
              <a:off x="-2364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+mn-lt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2587417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9489" y="457199"/>
            <a:ext cx="5943599" cy="192024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BBDFA0C-B372-969D-6C8A-F664A4BF8D41}"/>
              </a:ext>
            </a:extLst>
          </p:cNvPr>
          <p:cNvSpPr>
            <a:spLocks noGrp="1" noChangeAspect="1"/>
          </p:cNvSpPr>
          <p:nvPr>
            <p:ph idx="17" hasCustomPrompt="1"/>
          </p:nvPr>
        </p:nvSpPr>
        <p:spPr>
          <a:xfrm>
            <a:off x="823108" y="640080"/>
            <a:ext cx="4297680" cy="4297680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347663" indent="0" algn="ctr">
              <a:buFont typeface="Arial" panose="020B0604020202020204" pitchFamily="34" charset="0"/>
              <a:buNone/>
              <a:defRPr sz="2000">
                <a:latin typeface="+mn-lt"/>
              </a:defRPr>
            </a:lvl2pPr>
            <a:lvl3pPr marL="6858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3pPr>
            <a:lvl4pPr marL="9144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4pPr>
            <a:lvl5pPr marL="11430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8D2CC-EE75-85FA-1577-88C0BEC7B10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549490" y="2706369"/>
            <a:ext cx="5943600" cy="3383279"/>
          </a:xfrm>
        </p:spPr>
        <p:txBody>
          <a:bodyPr>
            <a:normAutofit/>
          </a:bodyPr>
          <a:lstStyle>
            <a:lvl1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46304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5656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74" r:id="rId4"/>
    <p:sldLayoutId id="2147483671" r:id="rId5"/>
    <p:sldLayoutId id="2147483659" r:id="rId6"/>
    <p:sldLayoutId id="2147483668" r:id="rId7"/>
    <p:sldLayoutId id="2147483669" r:id="rId8"/>
    <p:sldLayoutId id="2147483675" r:id="rId9"/>
    <p:sldLayoutId id="2147483677" r:id="rId10"/>
    <p:sldLayoutId id="2147483676" r:id="rId11"/>
    <p:sldLayoutId id="2147483661" r:id="rId12"/>
    <p:sldLayoutId id="2147483666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igitalguardian.com/blog/code-protection-how-protect-your-source-code" TargetMode="External"/><Relationship Id="rId2" Type="http://schemas.openxmlformats.org/officeDocument/2006/relationships/hyperlink" Target="https://chat.openai.com/chat" TargetMode="Externa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endpointprotector.com/blog/your-ultimate-guide-to-source-code-protection/" TargetMode="External"/><Relationship Id="rId4" Type="http://schemas.openxmlformats.org/officeDocument/2006/relationships/hyperlink" Target="https://www.ncsc.gov.uk/collection/developers-collection/principles/protect-your-code-repositor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232913"/>
            <a:ext cx="7096933" cy="3830130"/>
          </a:xfrm>
        </p:spPr>
        <p:txBody>
          <a:bodyPr/>
          <a:lstStyle/>
          <a:p>
            <a:r>
              <a:rPr lang="en-US" sz="4000" b="0" dirty="0">
                <a:latin typeface="Tenorite"/>
                <a:cs typeface="Arial"/>
              </a:rPr>
              <a:t>Caitlan Nichols</a:t>
            </a:r>
            <a:endParaRPr lang="en-US" sz="4000" dirty="0">
              <a:latin typeface="Tenorite"/>
            </a:endParaRPr>
          </a:p>
          <a:p>
            <a:r>
              <a:rPr lang="en-US" sz="4000" b="0" dirty="0">
                <a:latin typeface="Tenorite"/>
                <a:cs typeface="Arial"/>
              </a:rPr>
              <a:t>March 02 2025</a:t>
            </a:r>
            <a:endParaRPr lang="en-US" sz="4000" dirty="0">
              <a:latin typeface="Tenorite"/>
            </a:endParaRPr>
          </a:p>
          <a:p>
            <a:r>
              <a:rPr lang="en-US" sz="4000" b="0" dirty="0">
                <a:latin typeface="Tenorite"/>
                <a:cs typeface="Arial"/>
              </a:rPr>
              <a:t>Module 11.2 - </a:t>
            </a:r>
            <a:r>
              <a:rPr lang="en-US" sz="4000" b="0" dirty="0">
                <a:ea typeface="+mj-lt"/>
                <a:cs typeface="Arial"/>
              </a:rPr>
              <a:t>Assignment: </a:t>
            </a:r>
            <a:r>
              <a:rPr lang="en-US" sz="4000" b="0" dirty="0">
                <a:ea typeface="Open Sans"/>
                <a:cs typeface="Open Sans"/>
              </a:rPr>
              <a:t>Pager Rotation Duties</a:t>
            </a:r>
            <a:endParaRPr lang="en-US" sz="1100" dirty="0">
              <a:latin typeface="Tenorite"/>
              <a:ea typeface="Open Sans"/>
              <a:cs typeface="Open Sans"/>
            </a:endParaRPr>
          </a:p>
          <a:p>
            <a:br>
              <a:rPr lang="en-US" dirty="0"/>
            </a:br>
            <a:endParaRPr lang="en-US" sz="4000"/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/>
          <a:lstStyle/>
          <a:p>
            <a:r>
              <a:rPr lang="en-US" b="0" dirty="0">
                <a:ea typeface="+mj-lt"/>
                <a:cs typeface="+mj-lt"/>
              </a:rPr>
              <a:t>Why Security Controls Matter in Shared Repositories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3366815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Source code repositories are critical to software development but are vulnerable to security threats.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Cyberattacks on software supply chains increased by </a:t>
            </a:r>
            <a:r>
              <a:rPr lang="en-US" b="1" dirty="0">
                <a:ea typeface="+mn-lt"/>
                <a:cs typeface="+mn-lt"/>
              </a:rPr>
              <a:t>633% in 2022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Assembla</a:t>
            </a:r>
            <a:r>
              <a:rPr lang="en-US" dirty="0">
                <a:ea typeface="+mn-lt"/>
                <a:cs typeface="+mn-lt"/>
              </a:rPr>
              <a:t>, 2023).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ea typeface="+mn-lt"/>
                <a:cs typeface="+mn-lt"/>
              </a:rPr>
              <a:t>43% of cyberattacks</a:t>
            </a:r>
            <a:r>
              <a:rPr lang="en-US" dirty="0">
                <a:ea typeface="+mn-lt"/>
                <a:cs typeface="+mn-lt"/>
              </a:rPr>
              <a:t> target small businesses, not just large enterprises (</a:t>
            </a:r>
            <a:r>
              <a:rPr lang="en-US" dirty="0" err="1">
                <a:ea typeface="+mn-lt"/>
                <a:cs typeface="+mn-lt"/>
              </a:rPr>
              <a:t>Assembla</a:t>
            </a:r>
            <a:r>
              <a:rPr lang="en-US" dirty="0">
                <a:ea typeface="+mn-lt"/>
                <a:cs typeface="+mn-lt"/>
              </a:rPr>
              <a:t>, 2023).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Implementing </a:t>
            </a:r>
            <a:r>
              <a:rPr lang="en-US" b="1" dirty="0">
                <a:ea typeface="+mn-lt"/>
                <a:cs typeface="+mn-lt"/>
              </a:rPr>
              <a:t>best security practices</a:t>
            </a:r>
            <a:r>
              <a:rPr lang="en-US" dirty="0">
                <a:ea typeface="+mn-lt"/>
                <a:cs typeface="+mn-lt"/>
              </a:rPr>
              <a:t> helps protect </a:t>
            </a:r>
            <a:r>
              <a:rPr lang="en-US" b="1" dirty="0">
                <a:ea typeface="+mn-lt"/>
                <a:cs typeface="+mn-lt"/>
              </a:rPr>
              <a:t>intellectual property, prevent data leaks, and ensure compliance</a:t>
            </a:r>
            <a:r>
              <a:rPr lang="en-US" dirty="0">
                <a:ea typeface="+mn-lt"/>
                <a:cs typeface="+mn-lt"/>
              </a:rPr>
              <a:t> with regulations (NCSC, 2019).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EE190-899A-46D2-989D-C4BC6A46F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600" y="-1818216"/>
            <a:ext cx="8739623" cy="3200400"/>
          </a:xfrm>
        </p:spPr>
        <p:txBody>
          <a:bodyPr/>
          <a:lstStyle/>
          <a:p>
            <a:r>
              <a:rPr lang="en-US" sz="4000" b="0" dirty="0">
                <a:ea typeface="+mj-lt"/>
                <a:cs typeface="+mj-lt"/>
              </a:rPr>
              <a:t>Implement Least Privilege Access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BC9DE8-A5CC-4BE1-0DE5-CB15D01A79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431" y="1604433"/>
            <a:ext cx="10147723" cy="4210050"/>
          </a:xfrm>
        </p:spPr>
        <p:txBody>
          <a:bodyPr/>
          <a:lstStyle/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Limit repository access based on roles (developer, admin, reviewer).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Enforce </a:t>
            </a:r>
            <a:r>
              <a:rPr lang="en-US" b="1" dirty="0">
                <a:ea typeface="+mn-lt"/>
                <a:cs typeface="+mn-lt"/>
              </a:rPr>
              <a:t>read-only permissions</a:t>
            </a:r>
            <a:r>
              <a:rPr lang="en-US" dirty="0">
                <a:ea typeface="+mn-lt"/>
                <a:cs typeface="+mn-lt"/>
              </a:rPr>
              <a:t> where applicable.</a:t>
            </a:r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Regularly audit user access and revoke unused credentials.</a:t>
            </a:r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Version control systems like </a:t>
            </a:r>
            <a:r>
              <a:rPr lang="en-US" b="1" dirty="0">
                <a:ea typeface="+mn-lt"/>
                <a:cs typeface="+mn-lt"/>
              </a:rPr>
              <a:t>GitHub, GitLab, and Perforce</a:t>
            </a:r>
            <a:r>
              <a:rPr lang="en-US" dirty="0">
                <a:ea typeface="+mn-lt"/>
                <a:cs typeface="+mn-lt"/>
              </a:rPr>
              <a:t> provide built-in RBAC features (</a:t>
            </a:r>
            <a:r>
              <a:rPr lang="en-US" dirty="0" err="1">
                <a:ea typeface="+mn-lt"/>
                <a:cs typeface="+mn-lt"/>
              </a:rPr>
              <a:t>Assembla</a:t>
            </a:r>
            <a:r>
              <a:rPr lang="en-US" dirty="0">
                <a:ea typeface="+mn-lt"/>
                <a:cs typeface="+mn-lt"/>
              </a:rPr>
              <a:t>, 2023).</a:t>
            </a:r>
            <a:endParaRPr lang="en-US" dirty="0"/>
          </a:p>
          <a:p>
            <a:pPr>
              <a:buFont typeface="Arial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750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DF9E134-98AA-3ECE-E40A-180C85AC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/>
          <a:lstStyle/>
          <a:p>
            <a:r>
              <a:rPr lang="en-US" sz="4000" b="0" dirty="0">
                <a:ea typeface="+mj-lt"/>
                <a:cs typeface="+mj-lt"/>
              </a:rPr>
              <a:t>Require Multi-Factor Authentication (MFA)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55C0B-19FB-954B-532A-0A68CAC4E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23984"/>
            <a:ext cx="8917940" cy="50473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Enforce </a:t>
            </a:r>
            <a:r>
              <a:rPr lang="en-US" sz="2800" b="1" dirty="0">
                <a:ea typeface="+mn-lt"/>
                <a:cs typeface="+mn-lt"/>
              </a:rPr>
              <a:t>Two-Factor Authentication (2FA)</a:t>
            </a:r>
            <a:r>
              <a:rPr lang="en-US" sz="2800" dirty="0">
                <a:ea typeface="+mn-lt"/>
                <a:cs typeface="+mn-lt"/>
              </a:rPr>
              <a:t> for all users.</a:t>
            </a:r>
            <a:endParaRPr lang="en-US" sz="2800"/>
          </a:p>
          <a:p>
            <a:pPr marL="285750" indent="-28575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Prefer </a:t>
            </a:r>
            <a:r>
              <a:rPr lang="en-US" sz="2800" b="1" dirty="0">
                <a:ea typeface="+mn-lt"/>
                <a:cs typeface="+mn-lt"/>
              </a:rPr>
              <a:t>OAuth tokens and SSH keys</a:t>
            </a:r>
            <a:r>
              <a:rPr lang="en-US" sz="2800" dirty="0">
                <a:ea typeface="+mn-lt"/>
                <a:cs typeface="+mn-lt"/>
              </a:rPr>
              <a:t> over passwords for authentication.</a:t>
            </a:r>
          </a:p>
          <a:p>
            <a:pPr marL="285750" indent="-28575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Regularly rotate authentication credentials to prevent unauthorized access.</a:t>
            </a:r>
          </a:p>
          <a:p>
            <a:pPr marL="285750" indent="-28575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Implement </a:t>
            </a:r>
            <a:r>
              <a:rPr lang="en-US" sz="2800" b="1" dirty="0">
                <a:ea typeface="+mn-lt"/>
                <a:cs typeface="+mn-lt"/>
              </a:rPr>
              <a:t>hardware security keys (FIDO2, U2F)</a:t>
            </a:r>
            <a:r>
              <a:rPr lang="en-US" sz="2800" dirty="0">
                <a:ea typeface="+mn-lt"/>
                <a:cs typeface="+mn-lt"/>
              </a:rPr>
              <a:t> for additional protection (NCSC, 2019).</a:t>
            </a:r>
          </a:p>
          <a:p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265939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C00FF-6B42-7D84-7831-AACC4E189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097" y="-474134"/>
            <a:ext cx="10695877" cy="1920240"/>
          </a:xfrm>
        </p:spPr>
        <p:txBody>
          <a:bodyPr/>
          <a:lstStyle/>
          <a:p>
            <a:r>
              <a:rPr lang="en-US" b="0" dirty="0">
                <a:ea typeface="+mj-lt"/>
                <a:cs typeface="+mj-lt"/>
              </a:rPr>
              <a:t>Scan for Vulnerabilities and Code Weaknesses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5C7B5A-A5C3-15D4-DF71-B692D28942F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54568" y="1447272"/>
            <a:ext cx="10938932" cy="46423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3210" indent="-28321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Use </a:t>
            </a:r>
            <a:r>
              <a:rPr lang="en-US" sz="2800" b="1" dirty="0">
                <a:ea typeface="+mn-lt"/>
                <a:cs typeface="+mn-lt"/>
              </a:rPr>
              <a:t>Static Application Security Testing (SAST)</a:t>
            </a:r>
            <a:r>
              <a:rPr lang="en-US" sz="2800" dirty="0">
                <a:ea typeface="+mn-lt"/>
                <a:cs typeface="+mn-lt"/>
              </a:rPr>
              <a:t> tools like </a:t>
            </a:r>
            <a:r>
              <a:rPr lang="en-US" sz="2800" b="1" dirty="0">
                <a:ea typeface="+mn-lt"/>
                <a:cs typeface="+mn-lt"/>
              </a:rPr>
              <a:t>SonarQube, </a:t>
            </a:r>
            <a:r>
              <a:rPr lang="en-US" sz="2800" b="1" err="1">
                <a:ea typeface="+mn-lt"/>
                <a:cs typeface="+mn-lt"/>
              </a:rPr>
              <a:t>Checkmarx</a:t>
            </a:r>
            <a:r>
              <a:rPr lang="en-US" sz="2800" b="1" dirty="0">
                <a:ea typeface="+mn-lt"/>
                <a:cs typeface="+mn-lt"/>
              </a:rPr>
              <a:t>, </a:t>
            </a:r>
            <a:r>
              <a:rPr lang="en-US" sz="2800" b="1" err="1">
                <a:ea typeface="+mn-lt"/>
                <a:cs typeface="+mn-lt"/>
              </a:rPr>
              <a:t>Kiuwan</a:t>
            </a:r>
            <a:r>
              <a:rPr lang="en-US" sz="2800" dirty="0">
                <a:ea typeface="+mn-lt"/>
                <a:cs typeface="+mn-lt"/>
              </a:rPr>
              <a:t> to detect vulnerabilities.</a:t>
            </a:r>
          </a:p>
          <a:p>
            <a:pPr marL="283210" indent="-28321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Deploy </a:t>
            </a:r>
            <a:r>
              <a:rPr lang="en-US" sz="2800" b="1" dirty="0">
                <a:ea typeface="+mn-lt"/>
                <a:cs typeface="+mn-lt"/>
              </a:rPr>
              <a:t>Software Composition Analysis (SCA)</a:t>
            </a:r>
            <a:r>
              <a:rPr lang="en-US" sz="2800" dirty="0">
                <a:ea typeface="+mn-lt"/>
                <a:cs typeface="+mn-lt"/>
              </a:rPr>
              <a:t> tools to identify outdated dependencies.</a:t>
            </a:r>
          </a:p>
          <a:p>
            <a:pPr marL="283210" indent="-28321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Conduct </a:t>
            </a:r>
            <a:r>
              <a:rPr lang="en-US" sz="2800" b="1" dirty="0">
                <a:ea typeface="+mn-lt"/>
                <a:cs typeface="+mn-lt"/>
              </a:rPr>
              <a:t>Dynamic Application Security Testing (DAST)</a:t>
            </a:r>
            <a:r>
              <a:rPr lang="en-US" sz="2800" dirty="0">
                <a:ea typeface="+mn-lt"/>
                <a:cs typeface="+mn-lt"/>
              </a:rPr>
              <a:t> to catch runtime security issues (Endpoint Protector, 2022).</a:t>
            </a:r>
            <a:endParaRPr lang="en-US" sz="2800"/>
          </a:p>
          <a:p>
            <a:pPr marL="283210" indent="-28321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Integrate scanning tools into </a:t>
            </a:r>
            <a:r>
              <a:rPr lang="en-US" sz="2800" b="1" dirty="0">
                <a:ea typeface="+mn-lt"/>
                <a:cs typeface="+mn-lt"/>
              </a:rPr>
              <a:t>CI/CD pipelines</a:t>
            </a:r>
            <a:r>
              <a:rPr lang="en-US" sz="2800" dirty="0">
                <a:ea typeface="+mn-lt"/>
                <a:cs typeface="+mn-lt"/>
              </a:rPr>
              <a:t> for continuous security monitoring.</a:t>
            </a:r>
          </a:p>
          <a:p>
            <a:pPr marL="0" indent="0">
              <a:buNone/>
            </a:pP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853261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555B2-E61B-5E67-8AF0-082FD76DA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419" y="457199"/>
            <a:ext cx="9862365" cy="724324"/>
          </a:xfrm>
        </p:spPr>
        <p:txBody>
          <a:bodyPr/>
          <a:lstStyle/>
          <a:p>
            <a:r>
              <a:rPr lang="en-US" b="0" dirty="0">
                <a:ea typeface="+mj-lt"/>
                <a:cs typeface="+mj-lt"/>
              </a:rPr>
              <a:t>Secure API Keys, Passwords, and Credentials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CB5AEC-D484-A77F-BC43-7AD14259DB0D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54157" y="1351703"/>
            <a:ext cx="10938933" cy="473794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3210" indent="-28321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Never hardcode credentials in source code.</a:t>
            </a:r>
            <a:endParaRPr lang="en-US" sz="2800"/>
          </a:p>
          <a:p>
            <a:pPr marL="283210" indent="-28321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Use </a:t>
            </a:r>
            <a:r>
              <a:rPr lang="en-US" sz="2800" b="1" dirty="0">
                <a:ea typeface="+mn-lt"/>
                <a:cs typeface="+mn-lt"/>
              </a:rPr>
              <a:t>secrets management tools</a:t>
            </a:r>
            <a:r>
              <a:rPr lang="en-US" sz="2800" dirty="0">
                <a:ea typeface="+mn-lt"/>
                <a:cs typeface="+mn-lt"/>
              </a:rPr>
              <a:t> like </a:t>
            </a:r>
            <a:r>
              <a:rPr lang="en-US" sz="2800" b="1" err="1">
                <a:ea typeface="+mn-lt"/>
                <a:cs typeface="+mn-lt"/>
              </a:rPr>
              <a:t>HashiCorp</a:t>
            </a:r>
            <a:r>
              <a:rPr lang="en-US" sz="2800" b="1" dirty="0">
                <a:ea typeface="+mn-lt"/>
                <a:cs typeface="+mn-lt"/>
              </a:rPr>
              <a:t> Vault, AWS Secrets Manager, Azure Key Vault</a:t>
            </a:r>
            <a:r>
              <a:rPr lang="en-US" sz="2800" dirty="0">
                <a:ea typeface="+mn-lt"/>
                <a:cs typeface="+mn-lt"/>
              </a:rPr>
              <a:t>.</a:t>
            </a:r>
            <a:endParaRPr lang="en-US" sz="2800"/>
          </a:p>
          <a:p>
            <a:pPr marL="283210" indent="-28321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Encrypt </a:t>
            </a:r>
            <a:r>
              <a:rPr lang="en-US" sz="2800" b="1" dirty="0">
                <a:ea typeface="+mn-lt"/>
                <a:cs typeface="+mn-lt"/>
              </a:rPr>
              <a:t>sensitive data at rest and in transit</a:t>
            </a:r>
            <a:r>
              <a:rPr lang="en-US" sz="2800" dirty="0">
                <a:ea typeface="+mn-lt"/>
                <a:cs typeface="+mn-lt"/>
              </a:rPr>
              <a:t> using strong cryptographic methods.</a:t>
            </a:r>
            <a:endParaRPr lang="en-US" sz="2800">
              <a:ea typeface="+mn-lt"/>
              <a:cs typeface="+mn-lt"/>
            </a:endParaRPr>
          </a:p>
          <a:p>
            <a:pPr marL="283210" indent="-28321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Set up </a:t>
            </a:r>
            <a:r>
              <a:rPr lang="en-US" sz="2800" b="1" dirty="0">
                <a:ea typeface="+mn-lt"/>
                <a:cs typeface="+mn-lt"/>
              </a:rPr>
              <a:t>automated secret scanning tools</a:t>
            </a:r>
            <a:r>
              <a:rPr lang="en-US" sz="2800" dirty="0">
                <a:ea typeface="+mn-lt"/>
                <a:cs typeface="+mn-lt"/>
              </a:rPr>
              <a:t> to detect accidental credential exposure (</a:t>
            </a:r>
            <a:r>
              <a:rPr lang="en-US" sz="2800" err="1">
                <a:ea typeface="+mn-lt"/>
                <a:cs typeface="+mn-lt"/>
              </a:rPr>
              <a:t>Fortra</a:t>
            </a:r>
            <a:r>
              <a:rPr lang="en-US" sz="2800" dirty="0">
                <a:ea typeface="+mn-lt"/>
                <a:cs typeface="+mn-lt"/>
              </a:rPr>
              <a:t> Digital Guardian, 2024).</a:t>
            </a:r>
            <a:endParaRPr lang="en-US" sz="2800"/>
          </a:p>
          <a:p>
            <a:pPr marL="0" indent="0">
              <a:buNone/>
            </a:pPr>
            <a:endParaRPr lang="en-US" sz="28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96231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85F75-F9BA-D922-7B43-5B1BFD7F9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55" y="445842"/>
            <a:ext cx="10265948" cy="1272686"/>
          </a:xfrm>
        </p:spPr>
        <p:txBody>
          <a:bodyPr/>
          <a:lstStyle/>
          <a:p>
            <a:r>
              <a:rPr lang="en-US" sz="4000" b="0" dirty="0">
                <a:ea typeface="+mj-lt"/>
                <a:cs typeface="+mj-lt"/>
              </a:rPr>
              <a:t>Secure the Code Contribution Process</a:t>
            </a:r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59E6DEEB-719A-8604-B509-B71E729252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598" y="1710267"/>
            <a:ext cx="10581640" cy="3776133"/>
          </a:xfrm>
        </p:spPr>
        <p:txBody>
          <a:bodyPr/>
          <a:lstStyle/>
          <a:p>
            <a:pPr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Enforce </a:t>
            </a:r>
            <a:r>
              <a:rPr lang="en-US" sz="2800" b="1" dirty="0">
                <a:ea typeface="+mn-lt"/>
                <a:cs typeface="+mn-lt"/>
              </a:rPr>
              <a:t>mandatory peer reviews</a:t>
            </a:r>
            <a:r>
              <a:rPr lang="en-US" sz="2800" dirty="0">
                <a:ea typeface="+mn-lt"/>
                <a:cs typeface="+mn-lt"/>
              </a:rPr>
              <a:t> before merging code.</a:t>
            </a:r>
            <a:endParaRPr lang="en-US" sz="2800"/>
          </a:p>
          <a:p>
            <a:pPr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Require </a:t>
            </a:r>
            <a:r>
              <a:rPr lang="en-US" sz="2800" b="1" dirty="0">
                <a:ea typeface="+mn-lt"/>
                <a:cs typeface="+mn-lt"/>
              </a:rPr>
              <a:t>signed commits</a:t>
            </a:r>
            <a:r>
              <a:rPr lang="en-US" sz="2800" dirty="0">
                <a:ea typeface="+mn-lt"/>
                <a:cs typeface="+mn-lt"/>
              </a:rPr>
              <a:t> to verify developer identities.</a:t>
            </a:r>
          </a:p>
          <a:p>
            <a:pPr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Use </a:t>
            </a:r>
            <a:r>
              <a:rPr lang="en-US" sz="2800" b="1" dirty="0">
                <a:ea typeface="+mn-lt"/>
                <a:cs typeface="+mn-lt"/>
              </a:rPr>
              <a:t>branch protection rules</a:t>
            </a:r>
            <a:r>
              <a:rPr lang="en-US" sz="2800" dirty="0">
                <a:ea typeface="+mn-lt"/>
                <a:cs typeface="+mn-lt"/>
              </a:rPr>
              <a:t> to prevent unauthorized modifications to main branches.</a:t>
            </a:r>
          </a:p>
          <a:p>
            <a:pPr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Ensure </a:t>
            </a:r>
            <a:r>
              <a:rPr lang="en-US" sz="2800" b="1" dirty="0">
                <a:ea typeface="+mn-lt"/>
                <a:cs typeface="+mn-lt"/>
              </a:rPr>
              <a:t>pull requests (PRs) are reviewed</a:t>
            </a:r>
            <a:r>
              <a:rPr lang="en-US" sz="2800" dirty="0">
                <a:ea typeface="+mn-lt"/>
                <a:cs typeface="+mn-lt"/>
              </a:rPr>
              <a:t> by multiple team members before approval (</a:t>
            </a:r>
            <a:r>
              <a:rPr lang="en-US" sz="2800" err="1">
                <a:ea typeface="+mn-lt"/>
                <a:cs typeface="+mn-lt"/>
              </a:rPr>
              <a:t>Assembla</a:t>
            </a:r>
            <a:r>
              <a:rPr lang="en-US" sz="2800" dirty="0">
                <a:ea typeface="+mn-lt"/>
                <a:cs typeface="+mn-lt"/>
              </a:rPr>
              <a:t>, 2023).</a:t>
            </a:r>
          </a:p>
          <a:p>
            <a:pPr marL="285750" indent="-285750">
              <a:buFont typeface="Arial"/>
              <a:buChar char="•"/>
            </a:pP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959051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ACC83-6D64-F059-B208-55E5B96FA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112" y="457200"/>
            <a:ext cx="9962128" cy="1183889"/>
          </a:xfrm>
        </p:spPr>
        <p:txBody>
          <a:bodyPr/>
          <a:lstStyle/>
          <a:p>
            <a:r>
              <a:rPr lang="en-US" sz="4000" b="0" dirty="0">
                <a:ea typeface="+mj-lt"/>
                <a:cs typeface="+mj-lt"/>
              </a:rPr>
              <a:t>Track Repository Activities and Identify Anomalies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B23822-99EB-FE91-5736-C130572040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2110" y="1715430"/>
            <a:ext cx="9962128" cy="3770970"/>
          </a:xfrm>
        </p:spPr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Enable </a:t>
            </a:r>
            <a:r>
              <a:rPr lang="en-US" sz="2800" b="1" dirty="0">
                <a:ea typeface="+mn-lt"/>
                <a:cs typeface="+mn-lt"/>
              </a:rPr>
              <a:t>real-time logging</a:t>
            </a:r>
            <a:r>
              <a:rPr lang="en-US" sz="2800" dirty="0">
                <a:ea typeface="+mn-lt"/>
                <a:cs typeface="+mn-lt"/>
              </a:rPr>
              <a:t> of repository access and changes.</a:t>
            </a:r>
            <a:endParaRPr lang="en-US" sz="2800"/>
          </a:p>
          <a:p>
            <a:pPr marL="285750" indent="-28575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Use </a:t>
            </a:r>
            <a:r>
              <a:rPr lang="en-US" sz="2800" b="1" dirty="0">
                <a:ea typeface="+mn-lt"/>
                <a:cs typeface="+mn-lt"/>
              </a:rPr>
              <a:t>intrusion detection systems (IDS)</a:t>
            </a:r>
            <a:r>
              <a:rPr lang="en-US" sz="2800" dirty="0">
                <a:ea typeface="+mn-lt"/>
                <a:cs typeface="+mn-lt"/>
              </a:rPr>
              <a:t> to identify unauthorized access attempts.</a:t>
            </a:r>
          </a:p>
          <a:p>
            <a:pPr marL="285750" indent="-28575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Set up </a:t>
            </a:r>
            <a:r>
              <a:rPr lang="en-US" sz="2800" b="1" dirty="0">
                <a:ea typeface="+mn-lt"/>
                <a:cs typeface="+mn-lt"/>
              </a:rPr>
              <a:t>automated alerts</a:t>
            </a:r>
            <a:r>
              <a:rPr lang="en-US" sz="2800" dirty="0">
                <a:ea typeface="+mn-lt"/>
                <a:cs typeface="+mn-lt"/>
              </a:rPr>
              <a:t> for suspicious activities, such as bulk downloads.</a:t>
            </a:r>
          </a:p>
          <a:p>
            <a:pPr marL="285750" indent="-28575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Conduct </a:t>
            </a:r>
            <a:r>
              <a:rPr lang="en-US" sz="2800" b="1" dirty="0">
                <a:ea typeface="+mn-lt"/>
                <a:cs typeface="+mn-lt"/>
              </a:rPr>
              <a:t>periodic security audits</a:t>
            </a:r>
            <a:r>
              <a:rPr lang="en-US" sz="2800" dirty="0">
                <a:ea typeface="+mn-lt"/>
                <a:cs typeface="+mn-lt"/>
              </a:rPr>
              <a:t> to ensure compliance (NCSC, 2019).</a:t>
            </a:r>
            <a:endParaRPr lang="en-US" sz="2800"/>
          </a:p>
          <a:p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538973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280EB-DFD4-5BA0-A568-7820C3FFB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308" y="457200"/>
            <a:ext cx="10082932" cy="1490548"/>
          </a:xfrm>
        </p:spPr>
        <p:txBody>
          <a:bodyPr/>
          <a:lstStyle/>
          <a:p>
            <a:r>
              <a:rPr lang="en-US" b="0" dirty="0">
                <a:ea typeface="+mj-lt"/>
                <a:cs typeface="+mj-lt"/>
              </a:rPr>
              <a:t>Protect the Software Deployment Process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640DBC-087F-9BFE-3960-6CDBCFE3BC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8379" y="1957040"/>
            <a:ext cx="10175859" cy="3529360"/>
          </a:xfrm>
        </p:spPr>
        <p:txBody>
          <a:bodyPr/>
          <a:lstStyle/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Isolate </a:t>
            </a:r>
            <a:r>
              <a:rPr lang="en-US" b="1" dirty="0">
                <a:ea typeface="+mn-lt"/>
                <a:cs typeface="+mn-lt"/>
              </a:rPr>
              <a:t>CI/CD environments</a:t>
            </a:r>
            <a:r>
              <a:rPr lang="en-US" dirty="0">
                <a:ea typeface="+mn-lt"/>
                <a:cs typeface="+mn-lt"/>
              </a:rPr>
              <a:t> from external networks.</a:t>
            </a:r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Use </a:t>
            </a:r>
            <a:r>
              <a:rPr lang="en-US" b="1" dirty="0">
                <a:ea typeface="+mn-lt"/>
                <a:cs typeface="+mn-lt"/>
              </a:rPr>
              <a:t>signed and verified artifacts</a:t>
            </a:r>
            <a:r>
              <a:rPr lang="en-US" dirty="0">
                <a:ea typeface="+mn-lt"/>
                <a:cs typeface="+mn-lt"/>
              </a:rPr>
              <a:t> to prevent tampering.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Automate </a:t>
            </a:r>
            <a:r>
              <a:rPr lang="en-US" b="1" dirty="0">
                <a:ea typeface="+mn-lt"/>
                <a:cs typeface="+mn-lt"/>
              </a:rPr>
              <a:t>vulnerability scanning</a:t>
            </a:r>
            <a:r>
              <a:rPr lang="en-US" dirty="0">
                <a:ea typeface="+mn-lt"/>
                <a:cs typeface="+mn-lt"/>
              </a:rPr>
              <a:t> during build and deployment stages.</a:t>
            </a:r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Implement </a:t>
            </a:r>
            <a:r>
              <a:rPr lang="en-US" b="1" dirty="0">
                <a:ea typeface="+mn-lt"/>
                <a:cs typeface="+mn-lt"/>
              </a:rPr>
              <a:t>role-based permissions</a:t>
            </a:r>
            <a:r>
              <a:rPr lang="en-US" dirty="0">
                <a:ea typeface="+mn-lt"/>
                <a:cs typeface="+mn-lt"/>
              </a:rPr>
              <a:t> to restrict access to deployment environments (Endpoint Protector, 2022).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122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F7729-C240-29BD-B8BB-67E6B1DE5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040" y="457200"/>
            <a:ext cx="9855200" cy="1117600"/>
          </a:xfrm>
        </p:spPr>
        <p:txBody>
          <a:bodyPr/>
          <a:lstStyle/>
          <a:p>
            <a:r>
              <a:rPr lang="en-US" b="0" dirty="0">
                <a:ea typeface="+mj-lt"/>
                <a:cs typeface="+mj-lt"/>
              </a:rPr>
              <a:t>Strengthening Repository Security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FA87AD-4031-5218-0D98-972F37BC86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038" y="1717040"/>
            <a:ext cx="9855200" cy="3769360"/>
          </a:xfrm>
        </p:spPr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Security controls protect </a:t>
            </a:r>
            <a:r>
              <a:rPr lang="en-US" sz="2800" b="1" dirty="0">
                <a:ea typeface="+mn-lt"/>
                <a:cs typeface="+mn-lt"/>
              </a:rPr>
              <a:t>source code, intellectual property, and sensitive data</a:t>
            </a:r>
            <a:r>
              <a:rPr lang="en-US" sz="2800" dirty="0">
                <a:ea typeface="+mn-lt"/>
                <a:cs typeface="+mn-lt"/>
              </a:rPr>
              <a:t> from cyber threats.</a:t>
            </a:r>
            <a:endParaRPr lang="en-US" sz="2800" dirty="0"/>
          </a:p>
          <a:p>
            <a:pPr marL="285750" indent="-28575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Organizations should integrate </a:t>
            </a:r>
            <a:r>
              <a:rPr lang="en-US" sz="2800" b="1" dirty="0">
                <a:ea typeface="+mn-lt"/>
                <a:cs typeface="+mn-lt"/>
              </a:rPr>
              <a:t>RBAC, MFA, automated scanning, encryption, and monitoring</a:t>
            </a:r>
            <a:r>
              <a:rPr lang="en-US" sz="2800" dirty="0">
                <a:ea typeface="+mn-lt"/>
                <a:cs typeface="+mn-lt"/>
              </a:rPr>
              <a:t> into their repository security strategies.</a:t>
            </a:r>
            <a:endParaRPr lang="en-US" sz="2800" dirty="0"/>
          </a:p>
          <a:p>
            <a:pPr marL="285750" indent="-28575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Regular security audits and </a:t>
            </a:r>
            <a:r>
              <a:rPr lang="en-US" sz="2800" b="1" dirty="0">
                <a:ea typeface="+mn-lt"/>
                <a:cs typeface="+mn-lt"/>
              </a:rPr>
              <a:t>continuous security improvements</a:t>
            </a:r>
            <a:r>
              <a:rPr lang="en-US" sz="2800" dirty="0">
                <a:ea typeface="+mn-lt"/>
                <a:cs typeface="+mn-lt"/>
              </a:rPr>
              <a:t> are necessary to combat evolving threats.</a:t>
            </a:r>
            <a:endParaRPr lang="en-US" sz="2800" dirty="0"/>
          </a:p>
          <a:p>
            <a:pPr marL="285750" indent="-28575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Developers and teams should stay updated on </a:t>
            </a:r>
            <a:r>
              <a:rPr lang="en-US" sz="2800" b="1" dirty="0">
                <a:ea typeface="+mn-lt"/>
                <a:cs typeface="+mn-lt"/>
              </a:rPr>
              <a:t>emerging security risks and best practices</a:t>
            </a:r>
            <a:r>
              <a:rPr lang="en-US" sz="2800" dirty="0">
                <a:ea typeface="+mn-lt"/>
                <a:cs typeface="+mn-lt"/>
              </a:rPr>
              <a:t> (</a:t>
            </a:r>
            <a:r>
              <a:rPr lang="en-US" sz="2800" err="1">
                <a:ea typeface="+mn-lt"/>
                <a:cs typeface="+mn-lt"/>
              </a:rPr>
              <a:t>Fortra</a:t>
            </a:r>
            <a:r>
              <a:rPr lang="en-US" sz="2800" dirty="0">
                <a:ea typeface="+mn-lt"/>
                <a:cs typeface="+mn-lt"/>
              </a:rPr>
              <a:t> Digital Guardian, 2024).</a:t>
            </a:r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53837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00D91-728D-DC8E-E22C-69995AD04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8576" y="457200"/>
            <a:ext cx="9915664" cy="1165304"/>
          </a:xfrm>
        </p:spPr>
        <p:txBody>
          <a:bodyPr/>
          <a:lstStyle/>
          <a:p>
            <a:r>
              <a:rPr lang="en-US"/>
              <a:t>Sources: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0AD415-D118-48D3-568A-DA3C06FAB7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5647" y="2003503"/>
            <a:ext cx="10008591" cy="3947531"/>
          </a:xfrm>
        </p:spPr>
        <p:txBody>
          <a:bodyPr/>
          <a:lstStyle/>
          <a:p>
            <a:pPr marL="457200" indent="-457200">
              <a:buFont typeface="Calibri" panose="020B0604020202020204" pitchFamily="34" charset="0"/>
              <a:buChar char="-"/>
            </a:pPr>
            <a:r>
              <a:rPr lang="en-US" sz="2000" dirty="0"/>
              <a:t>Our textbook</a:t>
            </a:r>
          </a:p>
          <a:p>
            <a:pPr marL="457200" indent="-457200">
              <a:buFont typeface="Calibri" panose="020B0604020202020204" pitchFamily="34" charset="0"/>
              <a:buChar char="-"/>
            </a:pPr>
            <a:r>
              <a:rPr lang="en-US" sz="2000" dirty="0">
                <a:ea typeface="+mn-lt"/>
                <a:cs typeface="+mn-lt"/>
              </a:rPr>
              <a:t>Nichols C, 2025, OpenAI. (2025). ChatGPT (40 </a:t>
            </a:r>
            <a:r>
              <a:rPr lang="en-US" sz="2000" dirty="0" err="1">
                <a:ea typeface="+mn-lt"/>
                <a:cs typeface="+mn-lt"/>
              </a:rPr>
              <a:t>mimi</a:t>
            </a:r>
            <a:r>
              <a:rPr lang="en-US" sz="2000" dirty="0">
                <a:ea typeface="+mn-lt"/>
                <a:cs typeface="+mn-lt"/>
              </a:rPr>
              <a:t>). </a:t>
            </a:r>
            <a:r>
              <a:rPr lang="en-US" sz="2000" dirty="0">
                <a:ea typeface="+mn-lt"/>
                <a:cs typeface="+mn-lt"/>
                <a:hlinkClick r:id="rId2"/>
              </a:rPr>
              <a:t>https://chat.openai.com/chat</a:t>
            </a:r>
            <a:endParaRPr lang="en-US" sz="2000" dirty="0">
              <a:ea typeface="+mn-lt"/>
              <a:cs typeface="+mn-lt"/>
            </a:endParaRPr>
          </a:p>
          <a:p>
            <a:pPr marL="457200" indent="-457200">
              <a:buFont typeface="Calibri" panose="020B0604020202020204" pitchFamily="34" charset="0"/>
              <a:buChar char="-"/>
            </a:pPr>
            <a:r>
              <a:rPr lang="en-US" sz="2000" dirty="0">
                <a:ea typeface="+mn-lt"/>
                <a:cs typeface="+mn-lt"/>
              </a:rPr>
              <a:t>Nichols C, 2025,</a:t>
            </a:r>
            <a:r>
              <a:rPr lang="en-US" sz="2000" i="1" dirty="0">
                <a:ea typeface="+mn-lt"/>
                <a:cs typeface="+mn-lt"/>
              </a:rPr>
              <a:t> Code Protection: How to Protect Your Source Code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>
                <a:ea typeface="+mn-lt"/>
                <a:cs typeface="+mn-lt"/>
                <a:hlinkClick r:id="rId3"/>
              </a:rPr>
              <a:t>https://www.digitalguardian.com/blog/code-protection-how-protect-your-source-code</a:t>
            </a:r>
            <a:endParaRPr lang="en-US" sz="2000">
              <a:ea typeface="+mn-lt"/>
              <a:cs typeface="+mn-lt"/>
            </a:endParaRPr>
          </a:p>
          <a:p>
            <a:pPr marL="457200" indent="-457200">
              <a:buFont typeface="Calibri" panose="020B0604020202020204" pitchFamily="34" charset="0"/>
              <a:buChar char="-"/>
            </a:pPr>
            <a:r>
              <a:rPr lang="en-US" sz="2000" dirty="0">
                <a:ea typeface="+mn-lt"/>
                <a:cs typeface="+mn-lt"/>
              </a:rPr>
              <a:t>Nichols C, 2025,</a:t>
            </a:r>
            <a:r>
              <a:rPr lang="en-US" sz="2000" i="1" dirty="0">
                <a:ea typeface="+mn-lt"/>
                <a:cs typeface="+mn-lt"/>
              </a:rPr>
              <a:t> Protect your code repository</a:t>
            </a:r>
            <a:r>
              <a:rPr lang="en-US" sz="2000" dirty="0">
                <a:ea typeface="+mn-lt"/>
                <a:cs typeface="+mn-lt"/>
              </a:rPr>
              <a:t> </a:t>
            </a:r>
            <a:r>
              <a:rPr lang="en-US" sz="2000" dirty="0">
                <a:ea typeface="+mn-lt"/>
                <a:cs typeface="+mn-lt"/>
                <a:hlinkClick r:id="rId4"/>
              </a:rPr>
              <a:t>https://www.ncsc.gov.uk/collection/developers-collection/principles/protect-your-code-repository</a:t>
            </a:r>
            <a:r>
              <a:rPr lang="en-US" sz="2000" dirty="0">
                <a:ea typeface="+mn-lt"/>
                <a:cs typeface="+mn-lt"/>
              </a:rPr>
              <a:t> </a:t>
            </a:r>
            <a:endParaRPr lang="en-US" sz="2000">
              <a:ea typeface="+mn-lt"/>
              <a:cs typeface="+mn-lt"/>
            </a:endParaRPr>
          </a:p>
          <a:p>
            <a:pPr marL="457200" indent="-457200">
              <a:buFont typeface="Calibri" panose="020B0604020202020204" pitchFamily="34" charset="0"/>
              <a:buChar char="-"/>
            </a:pPr>
            <a:r>
              <a:rPr lang="en-US" sz="2000" dirty="0">
                <a:ea typeface="+mn-lt"/>
                <a:cs typeface="+mn-lt"/>
              </a:rPr>
              <a:t>Nichols C, 2025, </a:t>
            </a:r>
            <a:r>
              <a:rPr lang="en-US" sz="2000" i="1" dirty="0">
                <a:ea typeface="+mn-lt"/>
                <a:cs typeface="+mn-lt"/>
              </a:rPr>
              <a:t>Best Practices for Source Code Security</a:t>
            </a:r>
            <a:r>
              <a:rPr lang="en-US" sz="2000" dirty="0">
                <a:ea typeface="+mn-lt"/>
                <a:cs typeface="+mn-lt"/>
              </a:rPr>
              <a:t> </a:t>
            </a:r>
            <a:r>
              <a:rPr lang="en-US" sz="2000" dirty="0">
                <a:ea typeface="+mn-lt"/>
                <a:cs typeface="+mn-lt"/>
                <a:hlinkClick r:id="rId5"/>
              </a:rPr>
              <a:t>https://www.endpointprotector.com/blog/your-ultimate-guide-to-source-code-protection/</a:t>
            </a:r>
            <a:r>
              <a:rPr lang="en-US" sz="2000" dirty="0">
                <a:ea typeface="+mn-lt"/>
                <a:cs typeface="+mn-lt"/>
              </a:rPr>
              <a:t> </a:t>
            </a:r>
            <a:endParaRPr lang="en-US" sz="2000"/>
          </a:p>
          <a:p>
            <a:pPr marL="457200" indent="-457200">
              <a:buFont typeface="Calibri" panose="020B0604020202020204" pitchFamily="34" charset="0"/>
              <a:buChar char="-"/>
            </a:pPr>
            <a:r>
              <a:rPr lang="en-US" sz="2000" dirty="0">
                <a:ea typeface="+mn-lt"/>
                <a:cs typeface="+mn-lt"/>
              </a:rPr>
              <a:t>Nichols C, 2025, </a:t>
            </a:r>
            <a:r>
              <a:rPr lang="en-US" sz="2000" i="1" dirty="0">
                <a:ea typeface="+mn-lt"/>
                <a:cs typeface="+mn-lt"/>
              </a:rPr>
              <a:t>Source Code Security Best Practices: A Complete Guide: Blog </a:t>
            </a: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https</a:t>
            </a:r>
            <a:r>
              <a:rPr lang="en-US" sz="2000" dirty="0">
                <a:ea typeface="+mn-lt"/>
                <a:cs typeface="+mn-lt"/>
              </a:rPr>
              <a:t>://get.assembla.com/blog/source-code-security/</a:t>
            </a:r>
            <a:endParaRPr lang="en-US" sz="2000" dirty="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r>
              <a:rPr lang="en-US" sz="2000" dirty="0"/>
              <a:t>0-09[=</a:t>
            </a:r>
            <a:r>
              <a:rPr lang="en-US" sz="2000" dirty="0" err="1"/>
              <a:t>pppppppppppppppppppp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8302420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A7188B1-CB43-4216-A332-EE7733BC2215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31D3D4E-040D-4F59-9215-B1F04B81B9F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CE52C7A-8834-4F18-859F-7167A187E138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11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Custom</vt:lpstr>
      <vt:lpstr>Caitlan Nichols March 02 2025 Module 11.2 - Assignment: Pager Rotation Duties  </vt:lpstr>
      <vt:lpstr>Why Security Controls Matter in Shared Repositories</vt:lpstr>
      <vt:lpstr>Implement Least Privilege Access</vt:lpstr>
      <vt:lpstr>Require Multi-Factor Authentication (MFA)</vt:lpstr>
      <vt:lpstr>Scan for Vulnerabilities and Code Weaknesses</vt:lpstr>
      <vt:lpstr>Secure API Keys, Passwords, and Credentials</vt:lpstr>
      <vt:lpstr>Secure the Code Contribution Process</vt:lpstr>
      <vt:lpstr>Track Repository Activities and Identify Anomalies</vt:lpstr>
      <vt:lpstr>Protect the Software Deployment Process</vt:lpstr>
      <vt:lpstr>Strengthening Repository Security</vt:lpstr>
      <vt:lpstr>Sources: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70</cp:revision>
  <dcterms:created xsi:type="dcterms:W3CDTF">2024-10-27T00:16:52Z</dcterms:created>
  <dcterms:modified xsi:type="dcterms:W3CDTF">2025-03-02T07:12:58Z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